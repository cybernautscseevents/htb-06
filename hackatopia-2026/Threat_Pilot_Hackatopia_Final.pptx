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 Pilot, an agentic SBOM risk auditor for problem statement CB-02. One line: scanners flag every CVE; we prove which ones your code can reach, rank them by real risk, and open a verified pull request after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number. "This is a small Python project. Fifty-nine packages. A normal dependency scanner gives one hundred and thirty-three security alerts. Nobody fixes 133 alerts, so nobody fixes any. That is the real vulnerability." Industry data: 86% of commercial codebases contain vulnerable open source, and 71% of dependencies are transitive (Black Duck OSSRA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scanner is not wrong. It is answering the wrong question. It tells you the vulnerable code is on your disk. It does not tell you whether your program ever runs it." Dependabot and pip-audit list every CVE; Snyk has reachability only as a paid, closed feature; CVSS triage ignores whether code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a GitHub repository. Processing: seven LangGraph agents build the SBOM, pull live CVE data, prove reachability, score risk and verify a fix. Output: ranked findings with file and line evidence, and a pull request opened only after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is not risk. PyYAML at CVSS 7.5 is called by our code (L2) and scores 14.58. Pillow at CVSS 9.8 is never imported (L0) and scores 2.06. The reversal is the product, and every factor can be recomputed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Reachability workers run in parallel through Send(). The verifier can reject a fix and send it back, at most twice. The graph pauses at the human gate with interrupt() and survives a restart. Three ways to end without a PR: give up, nothing to change,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choices. LangGraph gives fan-out, cycles and durable pause as built-ins; CrewAI and AutoGen are conversation-driven. FastAPI plus SSE for a one-way progress stream. Neon Postgres because LangGraph ships a Postgres checkpointer. OSV, EPSS and KEV are free and need no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come from deterministic tools. The LLM only reads and writes text, in four places, and every output is checked in code with a fallback that works with no model. Open PR is the only node that writes to GitHub, and it sits behind the human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status: working end to end, 55 backend tests pass with no network, verified live against OSV, EPSS and KEV, real PRs opened. Be honest about limits: Python and requirements.txt only; reachability is static analysis, evidence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GitHub Action that comments the risk change on every PR, sandboxed installs and running project tests against the fix, npm and Java via adapters, and for the blockchain track, signing each SBOM and anchoring its hash on-chain.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"It is Python-only today, and reachability is static analysis, so it is evidence, not proof. But it turns one hundred and thirty-nine alerts into two decisions, with the reasoning attached.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and invite questions. Keep the LangSmith trace open for "how do the agents actually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0D"/>
        </a:solidFill>
      </p:bgPr>
    </p:bg>
    <p:spTree>
      <p:nvGrpSpPr>
        <p:cNvPr id="1" name=""/>
        <p:cNvGrpSpPr/>
        <p:nvPr/>
      </p:nvGrpSpPr>
      <p:grpSpPr>
        <a:xfrm>
          <a:off x="0" y="0"/>
          <a:ext cx="0" cy="0"/>
          <a:chOff x="0" y="0"/>
          <a:chExt cx="0" cy="0"/>
        </a:xfrm>
      </p:grpSpPr>
      <p:pic>
        <p:nvPicPr>
          <p:cNvPr id="2" name="Image 0" descr="Threat Pilot">    </p:cNvPr>
          <p:cNvPicPr>
            <a:picLocks noChangeAspect="1"/>
          </p:cNvPicPr>
          <p:nvPr/>
        </p:nvPicPr>
        <p:blipFill>
          <a:blip r:embed="rId1"/>
          <a:stretch>
            <a:fillRect/>
          </a:stretch>
        </p:blipFill>
        <p:spPr>
          <a:xfrm>
            <a:off x="0" y="0"/>
            <a:ext cx="12191695" cy="6858000"/>
          </a:xfrm>
          <a:prstGeom prst="rect">
            <a:avLst/>
          </a:prstGeom>
        </p:spPr>
      </p:pic>
      <p:sp>
        <p:nvSpPr>
          <p:cNvPr id="3" name="text-1-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Home</a:t>
            </a:r>
            <a:endParaRPr lang="en-US" sz="1330" dirty="0"/>
          </a:p>
        </p:txBody>
      </p:sp>
      <p:sp>
        <p:nvSpPr>
          <p:cNvPr id="4" name="text-1-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1-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1-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1-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1-6"/>
          <p:cNvSpPr txBox="1"/>
          <p:nvPr/>
        </p:nvSpPr>
        <p:spPr>
          <a:xfrm>
            <a:off x="2620765" y="5947685"/>
            <a:ext cx="2111851" cy="239771"/>
          </a:xfrm>
          <a:prstGeom prst="rect">
            <a:avLst/>
          </a:prstGeom>
          <a:noFill/>
          <a:ln/>
        </p:spPr>
        <p:txBody>
          <a:bodyPr wrap="square" lIns="0" tIns="0" rIns="0" bIns="0" rtlCol="0" anchor="t"/>
          <a:lstStyle/>
          <a:p>
            <a:pPr algn="l" indent="0" marL="0">
              <a:lnSpc>
                <a:spcPts val="1600"/>
              </a:lnSpc>
              <a:buNone/>
            </a:pPr>
            <a:r>
              <a:rPr lang="en-US" sz="1330" dirty="0">
                <a:solidFill>
                  <a:srgbClr val="FFFFFF"/>
                </a:solidFill>
                <a:latin typeface="Arial" pitchFamily="34" charset="0"/>
                <a:ea typeface="Arial" pitchFamily="34" charset="-122"/>
                <a:cs typeface="Arial" pitchFamily="34" charset="-120"/>
              </a:rPr>
              <a:t>Agentic SBOM Risk Auditor</a:t>
            </a:r>
            <a:endParaRPr lang="en-US" sz="1330" dirty="0"/>
          </a:p>
        </p:txBody>
      </p:sp>
      <p:sp>
        <p:nvSpPr>
          <p:cNvPr id="9" name="text-1-7"/>
          <p:cNvSpPr txBox="1"/>
          <p:nvPr/>
        </p:nvSpPr>
        <p:spPr>
          <a:xfrm>
            <a:off x="5105140" y="5947685"/>
            <a:ext cx="2803587" cy="239771"/>
          </a:xfrm>
          <a:prstGeom prst="rect">
            <a:avLst/>
          </a:prstGeom>
          <a:noFill/>
          <a:ln/>
        </p:spPr>
        <p:txBody>
          <a:bodyPr wrap="square" lIns="0" tIns="0" rIns="0" bIns="0" rtlCol="0" anchor="t"/>
          <a:lstStyle/>
          <a:p>
            <a:pPr algn="l" indent="0" marL="0">
              <a:lnSpc>
                <a:spcPts val="1600"/>
              </a:lnSpc>
              <a:buNone/>
            </a:pPr>
            <a:r>
              <a:rPr lang="en-US" sz="1330" dirty="0">
                <a:solidFill>
                  <a:srgbClr val="FFFFFF"/>
                </a:solidFill>
                <a:latin typeface="Arial" pitchFamily="34" charset="0"/>
                <a:ea typeface="Arial" pitchFamily="34" charset="-122"/>
                <a:cs typeface="Arial" pitchFamily="34" charset="-120"/>
              </a:rPr>
              <a:t>CB-02 · Cyber Security + Blockchain</a:t>
            </a:r>
            <a:endParaRPr lang="en-US" sz="1330" dirty="0"/>
          </a:p>
        </p:txBody>
      </p:sp>
      <p:sp>
        <p:nvSpPr>
          <p:cNvPr id="10" name="text-1-8"/>
          <p:cNvSpPr txBox="1"/>
          <p:nvPr/>
        </p:nvSpPr>
        <p:spPr>
          <a:xfrm>
            <a:off x="8281251" y="5947685"/>
            <a:ext cx="1340478" cy="239771"/>
          </a:xfrm>
          <a:prstGeom prst="rect">
            <a:avLst/>
          </a:prstGeom>
          <a:noFill/>
          <a:ln/>
        </p:spPr>
        <p:txBody>
          <a:bodyPr wrap="square" lIns="0" tIns="0" rIns="0" bIns="0" rtlCol="0" anchor="t"/>
          <a:lstStyle/>
          <a:p>
            <a:pPr algn="l" indent="0" marL="0">
              <a:lnSpc>
                <a:spcPts val="1600"/>
              </a:lnSpc>
              <a:buNone/>
            </a:pPr>
            <a:r>
              <a:rPr lang="en-US" sz="1330" dirty="0">
                <a:solidFill>
                  <a:srgbClr val="FFFFFF"/>
                </a:solidFill>
                <a:latin typeface="Arial" pitchFamily="34" charset="0"/>
                <a:ea typeface="Arial" pitchFamily="34" charset="-122"/>
                <a:cs typeface="Arial" pitchFamily="34" charset="-120"/>
              </a:rPr>
              <a:t>Hackatopia 2K26</a:t>
            </a:r>
            <a:endParaRPr lang="en-US" sz="13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60D"/>
        </a:solidFill>
      </p:bgPr>
    </p:bg>
    <p:spTree>
      <p:nvGrpSpPr>
        <p:cNvPr id="1" name=""/>
        <p:cNvGrpSpPr/>
        <p:nvPr/>
      </p:nvGrpSpPr>
      <p:grpSpPr>
        <a:xfrm>
          <a:off x="0" y="0"/>
          <a:ext cx="0" cy="0"/>
          <a:chOff x="0" y="0"/>
          <a:chExt cx="0" cy="0"/>
        </a:xfrm>
      </p:grpSpPr>
      <p:pic>
        <p:nvPicPr>
          <p:cNvPr id="2" name="Image 0" descr="The problem: alert fatigue">    </p:cNvPr>
          <p:cNvPicPr>
            <a:picLocks noChangeAspect="1"/>
          </p:cNvPicPr>
          <p:nvPr/>
        </p:nvPicPr>
        <p:blipFill>
          <a:blip r:embed="rId1"/>
          <a:stretch>
            <a:fillRect/>
          </a:stretch>
        </p:blipFill>
        <p:spPr>
          <a:xfrm>
            <a:off x="0" y="0"/>
            <a:ext cx="12191695" cy="6858000"/>
          </a:xfrm>
          <a:prstGeom prst="rect">
            <a:avLst/>
          </a:prstGeom>
        </p:spPr>
      </p:pic>
      <p:sp>
        <p:nvSpPr>
          <p:cNvPr id="3" name="text-2-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2-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2-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2-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2-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2-6"/>
          <p:cNvSpPr txBox="1"/>
          <p:nvPr/>
        </p:nvSpPr>
        <p:spPr>
          <a:xfrm>
            <a:off x="677316" y="1422364"/>
            <a:ext cx="377603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CB-02 · Automated SBOM Risk Auditor</a:t>
            </a:r>
            <a:endParaRPr lang="en-US" sz="1130" dirty="0"/>
          </a:p>
        </p:txBody>
      </p:sp>
      <p:sp>
        <p:nvSpPr>
          <p:cNvPr id="9" name="text-2-7"/>
          <p:cNvSpPr txBox="1"/>
          <p:nvPr/>
        </p:nvSpPr>
        <p:spPr>
          <a:xfrm>
            <a:off x="677316" y="1660219"/>
            <a:ext cx="3776039" cy="874755"/>
          </a:xfrm>
          <a:prstGeom prst="rect">
            <a:avLst/>
          </a:prstGeom>
          <a:noFill/>
          <a:ln/>
        </p:spPr>
        <p:txBody>
          <a:bodyPr wrap="square" lIns="0" tIns="0" rIns="0" bIns="0" rtlCol="0" anchor="t"/>
          <a:lstStyle/>
          <a:p>
            <a:pPr algn="l" indent="0" marL="0">
              <a:lnSpc>
                <a:spcPts val="1650"/>
              </a:lnSpc>
              <a:buNone/>
            </a:pPr>
            <a:r>
              <a:rPr lang="en-US" sz="1100" dirty="0">
                <a:solidFill>
                  <a:srgbClr val="F2F6FB"/>
                </a:solidFill>
                <a:latin typeface="Arial" pitchFamily="34" charset="0"/>
                <a:ea typeface="Arial" pitchFamily="34" charset="-122"/>
                <a:cs typeface="Arial" pitchFamily="34" charset="-120"/>
              </a:rPr>
              <a:t>A typical Python service pulls in 50–200 open-source packages, most of them transitive. Scanners report every known CVE in every one of them, whether or not the app ever runs the affected code.</a:t>
            </a:r>
            <a:endParaRPr lang="en-US" sz="1100" dirty="0"/>
          </a:p>
        </p:txBody>
      </p:sp>
      <p:sp>
        <p:nvSpPr>
          <p:cNvPr id="10" name="text-2-8"/>
          <p:cNvSpPr txBox="1"/>
          <p:nvPr/>
        </p:nvSpPr>
        <p:spPr>
          <a:xfrm>
            <a:off x="677316" y="2633861"/>
            <a:ext cx="377603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Who is affected</a:t>
            </a:r>
            <a:endParaRPr lang="en-US" sz="1130" dirty="0"/>
          </a:p>
        </p:txBody>
      </p:sp>
      <p:sp>
        <p:nvSpPr>
          <p:cNvPr id="11" name="text-2-9"/>
          <p:cNvSpPr txBox="1"/>
          <p:nvPr/>
        </p:nvSpPr>
        <p:spPr>
          <a:xfrm>
            <a:off x="677316" y="2871716"/>
            <a:ext cx="3776039" cy="455666"/>
          </a:xfrm>
          <a:prstGeom prst="rect">
            <a:avLst/>
          </a:prstGeom>
          <a:noFill/>
          <a:ln/>
        </p:spPr>
        <p:txBody>
          <a:bodyPr wrap="square" lIns="0" tIns="0" rIns="0" bIns="0" rtlCol="0" anchor="t"/>
          <a:lstStyle/>
          <a:p>
            <a:pPr algn="l" indent="0" marL="0">
              <a:lnSpc>
                <a:spcPts val="1650"/>
              </a:lnSpc>
              <a:buNone/>
            </a:pPr>
            <a:r>
              <a:rPr lang="en-US" sz="1100" dirty="0">
                <a:solidFill>
                  <a:srgbClr val="F2F6FB"/>
                </a:solidFill>
                <a:latin typeface="Arial" pitchFamily="34" charset="0"/>
                <a:ea typeface="Arial" pitchFamily="34" charset="-122"/>
                <a:cs typeface="Arial" pitchFamily="34" charset="-120"/>
              </a:rPr>
              <a:t>Developers buried in alerts, security engineers with no evidence, and leads who cannot ship a fix safely.</a:t>
            </a:r>
            <a:endParaRPr lang="en-US" sz="1100" dirty="0"/>
          </a:p>
        </p:txBody>
      </p:sp>
      <p:sp>
        <p:nvSpPr>
          <p:cNvPr id="12" name="text-2-10"/>
          <p:cNvSpPr txBox="1"/>
          <p:nvPr/>
        </p:nvSpPr>
        <p:spPr>
          <a:xfrm>
            <a:off x="677316" y="3426269"/>
            <a:ext cx="377603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Why it matters</a:t>
            </a:r>
            <a:endParaRPr lang="en-US" sz="1130" dirty="0"/>
          </a:p>
        </p:txBody>
      </p:sp>
      <p:sp>
        <p:nvSpPr>
          <p:cNvPr id="13" name="text-2-11"/>
          <p:cNvSpPr txBox="1"/>
          <p:nvPr/>
        </p:nvSpPr>
        <p:spPr>
          <a:xfrm>
            <a:off x="677316" y="3664123"/>
            <a:ext cx="3776039" cy="665210"/>
          </a:xfrm>
          <a:prstGeom prst="rect">
            <a:avLst/>
          </a:prstGeom>
          <a:noFill/>
          <a:ln/>
        </p:spPr>
        <p:txBody>
          <a:bodyPr wrap="square" lIns="0" tIns="0" rIns="0" bIns="0" rtlCol="0" anchor="t"/>
          <a:lstStyle/>
          <a:p>
            <a:pPr algn="l" indent="0" marL="0">
              <a:lnSpc>
                <a:spcPts val="1650"/>
              </a:lnSpc>
              <a:buNone/>
            </a:pPr>
            <a:r>
              <a:rPr lang="en-US" sz="1100" dirty="0">
                <a:solidFill>
                  <a:srgbClr val="F2F6FB"/>
                </a:solidFill>
                <a:latin typeface="Arial" pitchFamily="34" charset="0"/>
                <a:ea typeface="Arial" pitchFamily="34" charset="-122"/>
                <a:cs typeface="Arial" pitchFamily="34" charset="-120"/>
              </a:rPr>
              <a:t>Teams triage by CVSS severity alone. Nobody fixes 133 alerts, so nobody fixes any, and the one reachable bug ships.</a:t>
            </a:r>
            <a:endParaRPr lang="en-US" sz="1100" dirty="0"/>
          </a:p>
        </p:txBody>
      </p:sp>
      <p:sp>
        <p:nvSpPr>
          <p:cNvPr id="14" name="text-2-12"/>
          <p:cNvSpPr txBox="1"/>
          <p:nvPr/>
        </p:nvSpPr>
        <p:spPr>
          <a:xfrm>
            <a:off x="5325400" y="5257669"/>
            <a:ext cx="1744090" cy="345072"/>
          </a:xfrm>
          <a:prstGeom prst="rect">
            <a:avLst/>
          </a:prstGeom>
          <a:noFill/>
          <a:ln/>
        </p:spPr>
        <p:txBody>
          <a:bodyPr wrap="square" lIns="0" tIns="0" rIns="0" bIns="0" rtlCol="0" anchor="t"/>
          <a:lstStyle/>
          <a:p>
            <a:pPr algn="l" indent="0" marL="0">
              <a:lnSpc>
                <a:spcPts val="1220"/>
              </a:lnSpc>
              <a:buNone/>
            </a:pPr>
            <a:r>
              <a:rPr lang="en-US" sz="900" dirty="0">
                <a:solidFill>
                  <a:srgbClr val="DCE8F5"/>
                </a:solidFill>
                <a:latin typeface="Arial" pitchFamily="34" charset="0"/>
                <a:ea typeface="Arial" pitchFamily="34" charset="-122"/>
                <a:cs typeface="Arial" pitchFamily="34" charset="-120"/>
              </a:rPr>
              <a:t>of commercial codebases contain vulnerable open source</a:t>
            </a:r>
            <a:endParaRPr lang="en-US" sz="900" dirty="0"/>
          </a:p>
        </p:txBody>
      </p:sp>
      <p:sp>
        <p:nvSpPr>
          <p:cNvPr id="15" name="text-2-13"/>
          <p:cNvSpPr txBox="1"/>
          <p:nvPr/>
        </p:nvSpPr>
        <p:spPr>
          <a:xfrm>
            <a:off x="7425081" y="5257669"/>
            <a:ext cx="1744090" cy="345072"/>
          </a:xfrm>
          <a:prstGeom prst="rect">
            <a:avLst/>
          </a:prstGeom>
          <a:noFill/>
          <a:ln/>
        </p:spPr>
        <p:txBody>
          <a:bodyPr wrap="square" lIns="0" tIns="0" rIns="0" bIns="0" rtlCol="0" anchor="t"/>
          <a:lstStyle/>
          <a:p>
            <a:pPr algn="l" indent="0" marL="0">
              <a:lnSpc>
                <a:spcPts val="1220"/>
              </a:lnSpc>
              <a:buNone/>
            </a:pPr>
            <a:r>
              <a:rPr lang="en-US" sz="900" dirty="0">
                <a:solidFill>
                  <a:srgbClr val="DCE8F5"/>
                </a:solidFill>
                <a:latin typeface="Arial" pitchFamily="34" charset="0"/>
                <a:ea typeface="Arial" pitchFamily="34" charset="-122"/>
                <a:cs typeface="Arial" pitchFamily="34" charset="-120"/>
              </a:rPr>
              <a:t>of dependencies are transitive, invisible in requirements.txt</a:t>
            </a:r>
            <a:endParaRPr lang="en-US" sz="900" dirty="0"/>
          </a:p>
        </p:txBody>
      </p:sp>
      <p:sp>
        <p:nvSpPr>
          <p:cNvPr id="16" name="text-2-14"/>
          <p:cNvSpPr txBox="1"/>
          <p:nvPr/>
        </p:nvSpPr>
        <p:spPr>
          <a:xfrm>
            <a:off x="9524762" y="5257669"/>
            <a:ext cx="1744090" cy="345072"/>
          </a:xfrm>
          <a:prstGeom prst="rect">
            <a:avLst/>
          </a:prstGeom>
          <a:noFill/>
          <a:ln/>
        </p:spPr>
        <p:txBody>
          <a:bodyPr wrap="square" lIns="0" tIns="0" rIns="0" bIns="0" rtlCol="0" anchor="t"/>
          <a:lstStyle/>
          <a:p>
            <a:pPr algn="l" indent="0" marL="0">
              <a:lnSpc>
                <a:spcPts val="1220"/>
              </a:lnSpc>
              <a:buNone/>
            </a:pPr>
            <a:r>
              <a:rPr lang="en-US" sz="900" dirty="0">
                <a:solidFill>
                  <a:srgbClr val="DCE8F5"/>
                </a:solidFill>
                <a:latin typeface="Arial" pitchFamily="34" charset="0"/>
                <a:ea typeface="Arial" pitchFamily="34" charset="-122"/>
                <a:cs typeface="Arial" pitchFamily="34" charset="-120"/>
              </a:rPr>
              <a:t>scanner alerts on a 59-package repo vs. actually reachable</a:t>
            </a:r>
            <a:endParaRPr lang="en-US" sz="900" dirty="0"/>
          </a:p>
        </p:txBody>
      </p:sp>
      <p:sp>
        <p:nvSpPr>
          <p:cNvPr id="17" name="text-2-15"/>
          <p:cNvSpPr txBox="1"/>
          <p:nvPr/>
        </p:nvSpPr>
        <p:spPr>
          <a:xfrm>
            <a:off x="5181470" y="6417573"/>
            <a:ext cx="2397727" cy="153413"/>
          </a:xfrm>
          <a:prstGeom prst="rect">
            <a:avLst/>
          </a:prstGeom>
          <a:noFill/>
          <a:ln/>
        </p:spPr>
        <p:txBody>
          <a:bodyPr wrap="square" lIns="0" tIns="0" rIns="0" bIns="0" rtlCol="0" anchor="t"/>
          <a:lstStyle/>
          <a:p>
            <a:pPr algn="l" indent="0" marL="0">
              <a:lnSpc>
                <a:spcPts val="920"/>
              </a:lnSpc>
              <a:buNone/>
            </a:pPr>
            <a:r>
              <a:rPr lang="en-US" sz="770" dirty="0">
                <a:solidFill>
                  <a:srgbClr val="9FB3C8"/>
                </a:solidFill>
                <a:latin typeface="Arial" pitchFamily="34" charset="0"/>
                <a:ea typeface="Arial" pitchFamily="34" charset="-122"/>
                <a:cs typeface="Arial" pitchFamily="34" charset="-120"/>
              </a:rPr>
              <a:t>Source: Black Duck OSSRA 2025; Threat Pilot live run</a:t>
            </a:r>
            <a:endParaRPr lang="en-US" sz="7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60D"/>
        </a:solidFill>
      </p:bgPr>
    </p:bg>
    <p:spTree>
      <p:nvGrpSpPr>
        <p:cNvPr id="1" name=""/>
        <p:cNvGrpSpPr/>
        <p:nvPr/>
      </p:nvGrpSpPr>
      <p:grpSpPr>
        <a:xfrm>
          <a:off x="0" y="0"/>
          <a:ext cx="0" cy="0"/>
          <a:chOff x="0" y="0"/>
          <a:chExt cx="0" cy="0"/>
        </a:xfrm>
      </p:grpSpPr>
      <p:pic>
        <p:nvPicPr>
          <p:cNvPr id="2" name="Image 0" descr="Existing tools &amp; the gap">    </p:cNvPr>
          <p:cNvPicPr>
            <a:picLocks noChangeAspect="1"/>
          </p:cNvPicPr>
          <p:nvPr/>
        </p:nvPicPr>
        <p:blipFill>
          <a:blip r:embed="rId1"/>
          <a:stretch>
            <a:fillRect/>
          </a:stretch>
        </p:blipFill>
        <p:spPr>
          <a:xfrm>
            <a:off x="0" y="0"/>
            <a:ext cx="12191695" cy="6858000"/>
          </a:xfrm>
          <a:prstGeom prst="rect">
            <a:avLst/>
          </a:prstGeom>
        </p:spPr>
      </p:pic>
      <p:sp>
        <p:nvSpPr>
          <p:cNvPr id="3" name="text-3-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3-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3-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3-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3-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3-6"/>
          <p:cNvSpPr txBox="1"/>
          <p:nvPr/>
        </p:nvSpPr>
        <p:spPr>
          <a:xfrm>
            <a:off x="5841854" y="1608626"/>
            <a:ext cx="2760064" cy="245697"/>
          </a:xfrm>
          <a:prstGeom prst="rect">
            <a:avLst/>
          </a:prstGeom>
          <a:noFill/>
          <a:ln/>
        </p:spPr>
        <p:txBody>
          <a:bodyPr wrap="square" lIns="0" tIns="0" rIns="0" bIns="0" rtlCol="0" anchor="t"/>
          <a:lstStyle/>
          <a:p>
            <a:pPr algn="l" indent="0" marL="0">
              <a:lnSpc>
                <a:spcPts val="1650"/>
              </a:lnSpc>
              <a:buNone/>
            </a:pPr>
            <a:r>
              <a:rPr lang="en-US" sz="1270" b="1" dirty="0">
                <a:solidFill>
                  <a:srgbClr val="6CB4EE"/>
                </a:solidFill>
                <a:latin typeface="Arial" pitchFamily="34" charset="0"/>
                <a:ea typeface="Arial" pitchFamily="34" charset="-122"/>
                <a:cs typeface="Arial" pitchFamily="34" charset="-120"/>
              </a:rPr>
              <a:t>Dependabot &amp; pip-audit</a:t>
            </a:r>
            <a:endParaRPr lang="en-US" sz="1270" dirty="0"/>
          </a:p>
        </p:txBody>
      </p:sp>
      <p:sp>
        <p:nvSpPr>
          <p:cNvPr id="9" name="text-3-7"/>
          <p:cNvSpPr txBox="1"/>
          <p:nvPr/>
        </p:nvSpPr>
        <p:spPr>
          <a:xfrm>
            <a:off x="5841854" y="1868441"/>
            <a:ext cx="2760064" cy="955186"/>
          </a:xfrm>
          <a:prstGeom prst="rect">
            <a:avLst/>
          </a:prstGeom>
          <a:noFill/>
          <a:ln/>
        </p:spPr>
        <p:txBody>
          <a:bodyPr wrap="square" lIns="0" tIns="0" rIns="0" bIns="0" rtlCol="0" anchor="t"/>
          <a:lstStyle/>
          <a:p>
            <a:pPr algn="l" indent="0" marL="0">
              <a:lnSpc>
                <a:spcPts val="1810"/>
              </a:lnSpc>
              <a:buNone/>
            </a:pPr>
            <a:r>
              <a:rPr lang="en-US" sz="1170" dirty="0">
                <a:solidFill>
                  <a:srgbClr val="F2F6FB"/>
                </a:solidFill>
                <a:latin typeface="Arial" pitchFamily="34" charset="0"/>
                <a:ea typeface="Arial" pitchFamily="34" charset="-122"/>
                <a:cs typeface="Arial" pitchFamily="34" charset="-120"/>
              </a:rPr>
              <a:t>List every package with a known CVE and bump versions. They never ask whether your code calls the vulnerable function: all 133 alerts on our test repo.</a:t>
            </a:r>
            <a:endParaRPr lang="en-US" sz="1170" dirty="0"/>
          </a:p>
        </p:txBody>
      </p:sp>
      <p:sp>
        <p:nvSpPr>
          <p:cNvPr id="10" name="text-3-8"/>
          <p:cNvSpPr txBox="1"/>
          <p:nvPr/>
        </p:nvSpPr>
        <p:spPr>
          <a:xfrm>
            <a:off x="8889778" y="1608626"/>
            <a:ext cx="2760064" cy="245697"/>
          </a:xfrm>
          <a:prstGeom prst="rect">
            <a:avLst/>
          </a:prstGeom>
          <a:noFill/>
          <a:ln/>
        </p:spPr>
        <p:txBody>
          <a:bodyPr wrap="square" lIns="0" tIns="0" rIns="0" bIns="0" rtlCol="0" anchor="t"/>
          <a:lstStyle/>
          <a:p>
            <a:pPr algn="l" indent="0" marL="0">
              <a:lnSpc>
                <a:spcPts val="1650"/>
              </a:lnSpc>
              <a:buNone/>
            </a:pPr>
            <a:r>
              <a:rPr lang="en-US" sz="1270" b="1" dirty="0">
                <a:solidFill>
                  <a:srgbClr val="6CB4EE"/>
                </a:solidFill>
                <a:latin typeface="Arial" pitchFamily="34" charset="0"/>
                <a:ea typeface="Arial" pitchFamily="34" charset="-122"/>
                <a:cs typeface="Arial" pitchFamily="34" charset="-120"/>
              </a:rPr>
              <a:t>Snyk &amp; commercial SCA</a:t>
            </a:r>
            <a:endParaRPr lang="en-US" sz="1270" dirty="0"/>
          </a:p>
        </p:txBody>
      </p:sp>
      <p:sp>
        <p:nvSpPr>
          <p:cNvPr id="11" name="text-3-9"/>
          <p:cNvSpPr txBox="1"/>
          <p:nvPr/>
        </p:nvSpPr>
        <p:spPr>
          <a:xfrm>
            <a:off x="8889778" y="1868441"/>
            <a:ext cx="2760064" cy="955186"/>
          </a:xfrm>
          <a:prstGeom prst="rect">
            <a:avLst/>
          </a:prstGeom>
          <a:noFill/>
          <a:ln/>
        </p:spPr>
        <p:txBody>
          <a:bodyPr wrap="square" lIns="0" tIns="0" rIns="0" bIns="0" rtlCol="0" anchor="t"/>
          <a:lstStyle/>
          <a:p>
            <a:pPr algn="l" indent="0" marL="0">
              <a:lnSpc>
                <a:spcPts val="1810"/>
              </a:lnSpc>
              <a:buNone/>
            </a:pPr>
            <a:r>
              <a:rPr lang="en-US" sz="1170" dirty="0">
                <a:solidFill>
                  <a:srgbClr val="F2F6FB"/>
                </a:solidFill>
                <a:latin typeface="Arial" pitchFamily="34" charset="0"/>
                <a:ea typeface="Arial" pitchFamily="34" charset="-122"/>
                <a:cs typeface="Arial" pitchFamily="34" charset="-120"/>
              </a:rPr>
              <a:t>Reachability exists for some languages as a paid, closed feature. The reasoning is hidden; there is no call chain you can check yourself.</a:t>
            </a:r>
            <a:endParaRPr lang="en-US" sz="1170" dirty="0"/>
          </a:p>
        </p:txBody>
      </p:sp>
      <p:sp>
        <p:nvSpPr>
          <p:cNvPr id="12" name="text-3-10"/>
          <p:cNvSpPr txBox="1"/>
          <p:nvPr/>
        </p:nvSpPr>
        <p:spPr>
          <a:xfrm>
            <a:off x="5841854" y="4021566"/>
            <a:ext cx="2760064" cy="245697"/>
          </a:xfrm>
          <a:prstGeom prst="rect">
            <a:avLst/>
          </a:prstGeom>
          <a:noFill/>
          <a:ln/>
        </p:spPr>
        <p:txBody>
          <a:bodyPr wrap="square" lIns="0" tIns="0" rIns="0" bIns="0" rtlCol="0" anchor="t"/>
          <a:lstStyle/>
          <a:p>
            <a:pPr algn="l" indent="0" marL="0">
              <a:lnSpc>
                <a:spcPts val="1650"/>
              </a:lnSpc>
              <a:buNone/>
            </a:pPr>
            <a:r>
              <a:rPr lang="en-US" sz="1270" b="1" dirty="0">
                <a:solidFill>
                  <a:srgbClr val="6CB4EE"/>
                </a:solidFill>
                <a:latin typeface="Arial" pitchFamily="34" charset="0"/>
                <a:ea typeface="Arial" pitchFamily="34" charset="-122"/>
                <a:cs typeface="Arial" pitchFamily="34" charset="-120"/>
              </a:rPr>
              <a:t>Triage by CVSS score</a:t>
            </a:r>
            <a:endParaRPr lang="en-US" sz="1270" dirty="0"/>
          </a:p>
        </p:txBody>
      </p:sp>
      <p:sp>
        <p:nvSpPr>
          <p:cNvPr id="13" name="text-3-11"/>
          <p:cNvSpPr txBox="1"/>
          <p:nvPr/>
        </p:nvSpPr>
        <p:spPr>
          <a:xfrm>
            <a:off x="5841854" y="4281380"/>
            <a:ext cx="2760064" cy="725534"/>
          </a:xfrm>
          <a:prstGeom prst="rect">
            <a:avLst/>
          </a:prstGeom>
          <a:noFill/>
          <a:ln/>
        </p:spPr>
        <p:txBody>
          <a:bodyPr wrap="square" lIns="0" tIns="0" rIns="0" bIns="0" rtlCol="0" anchor="t"/>
          <a:lstStyle/>
          <a:p>
            <a:pPr algn="l" indent="0" marL="0">
              <a:lnSpc>
                <a:spcPts val="1810"/>
              </a:lnSpc>
              <a:buNone/>
            </a:pPr>
            <a:r>
              <a:rPr lang="en-US" sz="1170" dirty="0">
                <a:solidFill>
                  <a:srgbClr val="F2F6FB"/>
                </a:solidFill>
                <a:latin typeface="Arial" pitchFamily="34" charset="0"/>
                <a:ea typeface="Arial" pitchFamily="34" charset="-122"/>
                <a:cs typeface="Arial" pitchFamily="34" charset="-120"/>
              </a:rPr>
              <a:t>Teams sort by severity. A 9.8 in a package that is never imported outranks a 7.5 that runs on user input.</a:t>
            </a:r>
            <a:endParaRPr lang="en-US" sz="1170" dirty="0"/>
          </a:p>
        </p:txBody>
      </p:sp>
      <p:sp>
        <p:nvSpPr>
          <p:cNvPr id="14" name="text-3-12"/>
          <p:cNvSpPr txBox="1"/>
          <p:nvPr/>
        </p:nvSpPr>
        <p:spPr>
          <a:xfrm>
            <a:off x="8889778" y="4021566"/>
            <a:ext cx="2760064" cy="245697"/>
          </a:xfrm>
          <a:prstGeom prst="rect">
            <a:avLst/>
          </a:prstGeom>
          <a:noFill/>
          <a:ln/>
        </p:spPr>
        <p:txBody>
          <a:bodyPr wrap="square" lIns="0" tIns="0" rIns="0" bIns="0" rtlCol="0" anchor="t"/>
          <a:lstStyle/>
          <a:p>
            <a:pPr algn="l" indent="0" marL="0">
              <a:lnSpc>
                <a:spcPts val="1650"/>
              </a:lnSpc>
              <a:buNone/>
            </a:pPr>
            <a:r>
              <a:rPr lang="en-US" sz="1270" b="1" dirty="0">
                <a:solidFill>
                  <a:srgbClr val="6CB4EE"/>
                </a:solidFill>
                <a:latin typeface="Arial" pitchFamily="34" charset="0"/>
                <a:ea typeface="Arial" pitchFamily="34" charset="-122"/>
                <a:cs typeface="Arial" pitchFamily="34" charset="-120"/>
              </a:rPr>
              <a:t>Fixing by hand</a:t>
            </a:r>
            <a:endParaRPr lang="en-US" sz="1270" dirty="0"/>
          </a:p>
        </p:txBody>
      </p:sp>
      <p:sp>
        <p:nvSpPr>
          <p:cNvPr id="15" name="text-3-13"/>
          <p:cNvSpPr txBox="1"/>
          <p:nvPr/>
        </p:nvSpPr>
        <p:spPr>
          <a:xfrm>
            <a:off x="8889778" y="4281380"/>
            <a:ext cx="2760064" cy="955186"/>
          </a:xfrm>
          <a:prstGeom prst="rect">
            <a:avLst/>
          </a:prstGeom>
          <a:noFill/>
          <a:ln/>
        </p:spPr>
        <p:txBody>
          <a:bodyPr wrap="square" lIns="0" tIns="0" rIns="0" bIns="0" rtlCol="0" anchor="t"/>
          <a:lstStyle/>
          <a:p>
            <a:pPr algn="l" indent="0" marL="0">
              <a:lnSpc>
                <a:spcPts val="1810"/>
              </a:lnSpc>
              <a:buNone/>
            </a:pPr>
            <a:r>
              <a:rPr lang="en-US" sz="1170" dirty="0">
                <a:solidFill>
                  <a:srgbClr val="F2F6FB"/>
                </a:solidFill>
                <a:latin typeface="Arial" pitchFamily="34" charset="0"/>
                <a:ea typeface="Arial" pitchFamily="34" charset="-122"/>
                <a:cs typeface="Arial" pitchFamily="34" charset="-120"/>
              </a:rPr>
              <a:t>Engineers pick versions, check conflicts and write PRs manually. Blind auto-bumps can break the build or leave the CVE open.</a:t>
            </a:r>
            <a:endParaRPr lang="en-US" sz="1170" dirty="0"/>
          </a:p>
        </p:txBody>
      </p:sp>
      <p:sp>
        <p:nvSpPr>
          <p:cNvPr id="16" name="text-3-14"/>
          <p:cNvSpPr txBox="1"/>
          <p:nvPr/>
        </p:nvSpPr>
        <p:spPr>
          <a:xfrm>
            <a:off x="1041374" y="5390486"/>
            <a:ext cx="3708307" cy="625524"/>
          </a:xfrm>
          <a:prstGeom prst="rect">
            <a:avLst/>
          </a:prstGeom>
          <a:noFill/>
          <a:ln/>
        </p:spPr>
        <p:txBody>
          <a:bodyPr wrap="square" lIns="0" tIns="0" rIns="0" bIns="0" rtlCol="0" anchor="t"/>
          <a:lstStyle/>
          <a:p>
            <a:pPr algn="l" indent="0" marL="0">
              <a:lnSpc>
                <a:spcPts val="1550"/>
              </a:lnSpc>
              <a:buNone/>
            </a:pPr>
            <a:r>
              <a:rPr lang="en-US" sz="1070" dirty="0">
                <a:solidFill>
                  <a:srgbClr val="FFFFFF"/>
                </a:solidFill>
                <a:latin typeface="Arial" pitchFamily="34" charset="0"/>
                <a:ea typeface="Arial" pitchFamily="34" charset="-122"/>
                <a:cs typeface="Arial" pitchFamily="34" charset="-120"/>
              </a:rPr>
              <a:t>No tool proves which CVEs your code actually reaches, shows the evidence, and ships a verified fix behind human approval.</a:t>
            </a:r>
            <a:endParaRPr lang="en-US" sz="10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60D"/>
        </a:solidFill>
      </p:bgPr>
    </p:bg>
    <p:spTree>
      <p:nvGrpSpPr>
        <p:cNvPr id="1" name=""/>
        <p:cNvGrpSpPr/>
        <p:nvPr/>
      </p:nvGrpSpPr>
      <p:grpSpPr>
        <a:xfrm>
          <a:off x="0" y="0"/>
          <a:ext cx="0" cy="0"/>
          <a:chOff x="0" y="0"/>
          <a:chExt cx="0" cy="0"/>
        </a:xfrm>
      </p:grpSpPr>
      <p:pic>
        <p:nvPicPr>
          <p:cNvPr id="2" name="Image 0" descr="Our solution: Threat Pilot">    </p:cNvPr>
          <p:cNvPicPr>
            <a:picLocks noChangeAspect="1"/>
          </p:cNvPicPr>
          <p:nvPr/>
        </p:nvPicPr>
        <p:blipFill>
          <a:blip r:embed="rId1"/>
          <a:stretch>
            <a:fillRect/>
          </a:stretch>
        </p:blipFill>
        <p:spPr>
          <a:xfrm>
            <a:off x="0" y="0"/>
            <a:ext cx="12191695" cy="6858000"/>
          </a:xfrm>
          <a:prstGeom prst="rect">
            <a:avLst/>
          </a:prstGeom>
        </p:spPr>
      </p:pic>
      <p:sp>
        <p:nvSpPr>
          <p:cNvPr id="3" name="text-4-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4-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4-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4-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4-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4-6"/>
          <p:cNvSpPr txBox="1"/>
          <p:nvPr/>
        </p:nvSpPr>
        <p:spPr>
          <a:xfrm>
            <a:off x="677316" y="3200320"/>
            <a:ext cx="4792014" cy="1001752"/>
          </a:xfrm>
          <a:prstGeom prst="rect">
            <a:avLst/>
          </a:prstGeom>
          <a:noFill/>
          <a:ln/>
        </p:spPr>
        <p:txBody>
          <a:bodyPr wrap="square" lIns="0" tIns="0" rIns="0" bIns="0" rtlCol="0" anchor="t"/>
          <a:lstStyle/>
          <a:p>
            <a:pPr algn="l" indent="0" marL="0">
              <a:lnSpc>
                <a:spcPts val="1900"/>
              </a:lnSpc>
              <a:buNone/>
            </a:pPr>
            <a:r>
              <a:rPr lang="en-US" sz="1270" dirty="0">
                <a:solidFill>
                  <a:srgbClr val="EAF2FB"/>
                </a:solidFill>
                <a:latin typeface="Arial" pitchFamily="34" charset="0"/>
                <a:ea typeface="Arial" pitchFamily="34" charset="-122"/>
                <a:cs typeface="Arial" pitchFamily="34" charset="-120"/>
              </a:rPr>
              <a:t>Threat Pilot proves which vulnerabilities your application can actually reach, ranks them by real risk, and opens a verified pull request that upgrades the dependency and rewrites the affected code, only after a human approves.</a:t>
            </a:r>
            <a:endParaRPr lang="en-US" sz="1270" dirty="0"/>
          </a:p>
        </p:txBody>
      </p:sp>
      <p:sp>
        <p:nvSpPr>
          <p:cNvPr id="9" name="text-4-7"/>
          <p:cNvSpPr txBox="1"/>
          <p:nvPr/>
        </p:nvSpPr>
        <p:spPr>
          <a:xfrm>
            <a:off x="872045" y="5198403"/>
            <a:ext cx="2946326" cy="209292"/>
          </a:xfrm>
          <a:prstGeom prst="rect">
            <a:avLst/>
          </a:prstGeom>
          <a:noFill/>
          <a:ln/>
        </p:spPr>
        <p:txBody>
          <a:bodyPr wrap="square" lIns="0" tIns="0" rIns="0" bIns="0" rtlCol="0" anchor="t"/>
          <a:lstStyle/>
          <a:p>
            <a:pPr algn="l" indent="0" marL="0">
              <a:lnSpc>
                <a:spcPts val="1360"/>
              </a:lnSpc>
              <a:buNone/>
            </a:pPr>
            <a:r>
              <a:rPr lang="en-US" sz="1130" b="1" dirty="0">
                <a:solidFill>
                  <a:srgbClr val="6CB4EE"/>
                </a:solidFill>
                <a:latin typeface="Arial" pitchFamily="34" charset="0"/>
                <a:ea typeface="Arial" pitchFamily="34" charset="-122"/>
                <a:cs typeface="Arial" pitchFamily="34" charset="-120"/>
              </a:rPr>
              <a:t>A public GitHub repository</a:t>
            </a:r>
            <a:endParaRPr lang="en-US" sz="1130" dirty="0"/>
          </a:p>
        </p:txBody>
      </p:sp>
      <p:sp>
        <p:nvSpPr>
          <p:cNvPr id="10" name="text-4-8"/>
          <p:cNvSpPr txBox="1"/>
          <p:nvPr/>
        </p:nvSpPr>
        <p:spPr>
          <a:xfrm>
            <a:off x="872045" y="5418531"/>
            <a:ext cx="2946326" cy="404867"/>
          </a:xfrm>
          <a:prstGeom prst="rect">
            <a:avLst/>
          </a:prstGeom>
          <a:noFill/>
          <a:ln/>
        </p:spPr>
        <p:txBody>
          <a:bodyPr wrap="square" lIns="0" tIns="0" rIns="0" bIns="0" rtlCol="0" anchor="t"/>
          <a:lstStyle/>
          <a:p>
            <a:pPr algn="l" indent="0" marL="0">
              <a:lnSpc>
                <a:spcPts val="1450"/>
              </a:lnSpc>
              <a:buNone/>
            </a:pPr>
            <a:r>
              <a:rPr lang="en-US" sz="1000" dirty="0">
                <a:solidFill>
                  <a:srgbClr val="EAF2FB"/>
                </a:solidFill>
                <a:latin typeface="Arial" pitchFamily="34" charset="0"/>
                <a:ea typeface="Arial" pitchFamily="34" charset="-122"/>
                <a:cs typeface="Arial" pitchFamily="34" charset="-120"/>
              </a:rPr>
              <a:t>Sign in with GitHub, pick a repo or paste a URL. Threat Pilot reads its requirements.txt.</a:t>
            </a:r>
            <a:endParaRPr lang="en-US" sz="1000" dirty="0"/>
          </a:p>
        </p:txBody>
      </p:sp>
      <p:sp>
        <p:nvSpPr>
          <p:cNvPr id="11" name="text-4-9"/>
          <p:cNvSpPr txBox="1"/>
          <p:nvPr/>
        </p:nvSpPr>
        <p:spPr>
          <a:xfrm>
            <a:off x="4648084" y="5198403"/>
            <a:ext cx="2946326" cy="209292"/>
          </a:xfrm>
          <a:prstGeom prst="rect">
            <a:avLst/>
          </a:prstGeom>
          <a:noFill/>
          <a:ln/>
        </p:spPr>
        <p:txBody>
          <a:bodyPr wrap="square" lIns="0" tIns="0" rIns="0" bIns="0" rtlCol="0" anchor="t"/>
          <a:lstStyle/>
          <a:p>
            <a:pPr algn="l" indent="0" marL="0">
              <a:lnSpc>
                <a:spcPts val="1360"/>
              </a:lnSpc>
              <a:buNone/>
            </a:pPr>
            <a:r>
              <a:rPr lang="en-US" sz="1130" b="1" dirty="0">
                <a:solidFill>
                  <a:srgbClr val="6CB4EE"/>
                </a:solidFill>
                <a:latin typeface="Arial" pitchFamily="34" charset="0"/>
                <a:ea typeface="Arial" pitchFamily="34" charset="-122"/>
                <a:cs typeface="Arial" pitchFamily="34" charset="-120"/>
              </a:rPr>
              <a:t>7 LangGraph agents</a:t>
            </a:r>
            <a:endParaRPr lang="en-US" sz="1130" dirty="0"/>
          </a:p>
        </p:txBody>
      </p:sp>
      <p:sp>
        <p:nvSpPr>
          <p:cNvPr id="12" name="text-4-10"/>
          <p:cNvSpPr txBox="1"/>
          <p:nvPr/>
        </p:nvSpPr>
        <p:spPr>
          <a:xfrm>
            <a:off x="4648084" y="5418531"/>
            <a:ext cx="2946326" cy="404867"/>
          </a:xfrm>
          <a:prstGeom prst="rect">
            <a:avLst/>
          </a:prstGeom>
          <a:noFill/>
          <a:ln/>
        </p:spPr>
        <p:txBody>
          <a:bodyPr wrap="square" lIns="0" tIns="0" rIns="0" bIns="0" rtlCol="0" anchor="t"/>
          <a:lstStyle/>
          <a:p>
            <a:pPr algn="l" indent="0" marL="0">
              <a:lnSpc>
                <a:spcPts val="1450"/>
              </a:lnSpc>
              <a:buNone/>
            </a:pPr>
            <a:r>
              <a:rPr lang="en-US" sz="1000" dirty="0">
                <a:solidFill>
                  <a:srgbClr val="EAF2FB"/>
                </a:solidFill>
                <a:latin typeface="Arial" pitchFamily="34" charset="0"/>
                <a:ea typeface="Arial" pitchFamily="34" charset="-122"/>
                <a:cs typeface="Arial" pitchFamily="34" charset="-120"/>
              </a:rPr>
              <a:t>SBOM → live CVE data → reachability proof → risk score → verified fix → human gate.</a:t>
            </a:r>
            <a:endParaRPr lang="en-US" sz="1000" dirty="0"/>
          </a:p>
        </p:txBody>
      </p:sp>
      <p:sp>
        <p:nvSpPr>
          <p:cNvPr id="13" name="text-4-11"/>
          <p:cNvSpPr txBox="1"/>
          <p:nvPr/>
        </p:nvSpPr>
        <p:spPr>
          <a:xfrm>
            <a:off x="8424123" y="5198403"/>
            <a:ext cx="2946326" cy="209292"/>
          </a:xfrm>
          <a:prstGeom prst="rect">
            <a:avLst/>
          </a:prstGeom>
          <a:noFill/>
          <a:ln/>
        </p:spPr>
        <p:txBody>
          <a:bodyPr wrap="square" lIns="0" tIns="0" rIns="0" bIns="0" rtlCol="0" anchor="t"/>
          <a:lstStyle/>
          <a:p>
            <a:pPr algn="l" indent="0" marL="0">
              <a:lnSpc>
                <a:spcPts val="1360"/>
              </a:lnSpc>
              <a:buNone/>
            </a:pPr>
            <a:r>
              <a:rPr lang="en-US" sz="1130" b="1" dirty="0">
                <a:solidFill>
                  <a:srgbClr val="6CB4EE"/>
                </a:solidFill>
                <a:latin typeface="Arial" pitchFamily="34" charset="0"/>
                <a:ea typeface="Arial" pitchFamily="34" charset="-122"/>
                <a:cs typeface="Arial" pitchFamily="34" charset="-120"/>
              </a:rPr>
              <a:t>Evidence + a pull request</a:t>
            </a:r>
            <a:endParaRPr lang="en-US" sz="1130" dirty="0"/>
          </a:p>
        </p:txBody>
      </p:sp>
      <p:sp>
        <p:nvSpPr>
          <p:cNvPr id="14" name="text-4-12"/>
          <p:cNvSpPr txBox="1"/>
          <p:nvPr/>
        </p:nvSpPr>
        <p:spPr>
          <a:xfrm>
            <a:off x="8424123" y="5418531"/>
            <a:ext cx="2946326" cy="404867"/>
          </a:xfrm>
          <a:prstGeom prst="rect">
            <a:avLst/>
          </a:prstGeom>
          <a:noFill/>
          <a:ln/>
        </p:spPr>
        <p:txBody>
          <a:bodyPr wrap="square" lIns="0" tIns="0" rIns="0" bIns="0" rtlCol="0" anchor="t"/>
          <a:lstStyle/>
          <a:p>
            <a:pPr algn="l" indent="0" marL="0">
              <a:lnSpc>
                <a:spcPts val="1450"/>
              </a:lnSpc>
              <a:buNone/>
            </a:pPr>
            <a:r>
              <a:rPr lang="en-US" sz="1000" dirty="0">
                <a:solidFill>
                  <a:srgbClr val="EAF2FB"/>
                </a:solidFill>
                <a:latin typeface="Arial" pitchFamily="34" charset="0"/>
                <a:ea typeface="Arial" pitchFamily="34" charset="-122"/>
                <a:cs typeface="Arial" pitchFamily="34" charset="-120"/>
              </a:rPr>
              <a:t>Findings ranked by real risk with file:line evidence, and a verified PR opened after approval.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60D"/>
        </a:solidFill>
      </p:bgPr>
    </p:bg>
    <p:spTree>
      <p:nvGrpSpPr>
        <p:cNvPr id="1" name=""/>
        <p:cNvGrpSpPr/>
        <p:nvPr/>
      </p:nvGrpSpPr>
      <p:grpSpPr>
        <a:xfrm>
          <a:off x="0" y="0"/>
          <a:ext cx="0" cy="0"/>
          <a:chOff x="0" y="0"/>
          <a:chExt cx="0" cy="0"/>
        </a:xfrm>
      </p:grpSpPr>
      <p:pic>
        <p:nvPicPr>
          <p:cNvPr id="2" name="Image 0" descr="Innovation &amp; unique value">    </p:cNvPr>
          <p:cNvPicPr>
            <a:picLocks noChangeAspect="1"/>
          </p:cNvPicPr>
          <p:nvPr/>
        </p:nvPicPr>
        <p:blipFill>
          <a:blip r:embed="rId1"/>
          <a:stretch>
            <a:fillRect/>
          </a:stretch>
        </p:blipFill>
        <p:spPr>
          <a:xfrm>
            <a:off x="0" y="0"/>
            <a:ext cx="12191695" cy="6858000"/>
          </a:xfrm>
          <a:prstGeom prst="rect">
            <a:avLst/>
          </a:prstGeom>
        </p:spPr>
      </p:pic>
      <p:sp>
        <p:nvSpPr>
          <p:cNvPr id="3" name="text-5-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5-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5-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5-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5-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5-6"/>
          <p:cNvSpPr txBox="1"/>
          <p:nvPr/>
        </p:nvSpPr>
        <p:spPr>
          <a:xfrm>
            <a:off x="5198403" y="3064857"/>
            <a:ext cx="6366774" cy="468365"/>
          </a:xfrm>
          <a:prstGeom prst="rect">
            <a:avLst/>
          </a:prstGeom>
          <a:noFill/>
          <a:ln/>
        </p:spPr>
        <p:txBody>
          <a:bodyPr wrap="square" lIns="0" tIns="0" rIns="0" bIns="0" rtlCol="0" anchor="t"/>
          <a:lstStyle/>
          <a:p>
            <a:pPr algn="l" indent="0" marL="0">
              <a:lnSpc>
                <a:spcPts val="1700"/>
              </a:lnSpc>
              <a:buNone/>
            </a:pPr>
            <a:r>
              <a:rPr lang="en-US" sz="1130" b="1" dirty="0">
                <a:solidFill>
                  <a:srgbClr val="F5B342"/>
                </a:solidFill>
                <a:latin typeface="Arial" pitchFamily="34" charset="0"/>
                <a:ea typeface="Arial" pitchFamily="34" charset="-122"/>
                <a:cs typeface="Arial" pitchFamily="34" charset="-120"/>
              </a:rPr>
              <a:t>USP:</a:t>
            </a:r>
            <a:pPr algn="l" indent="0" marL="0">
              <a:lnSpc>
                <a:spcPts val="1700"/>
              </a:lnSpc>
              <a:buNone/>
            </a:pPr>
            <a:r>
              <a:rPr lang="en-US" sz="1130" dirty="0">
                <a:solidFill>
                  <a:srgbClr val="F2F6FB"/>
                </a:solidFill>
                <a:latin typeface="Arial" pitchFamily="34" charset="0"/>
                <a:ea typeface="Arial" pitchFamily="34" charset="-122"/>
                <a:cs typeface="Arial" pitchFamily="34" charset="-120"/>
              </a:rPr>
              <a:t> the open, explainable auditor that turns hundreds of CVE alerts into one evidence-backed, verified, human-approved pull request.</a:t>
            </a:r>
            <a:endParaRPr lang="en-US" sz="1130" dirty="0"/>
          </a:p>
        </p:txBody>
      </p:sp>
      <p:sp>
        <p:nvSpPr>
          <p:cNvPr id="9" name="text-5-7"/>
          <p:cNvSpPr txBox="1"/>
          <p:nvPr/>
        </p:nvSpPr>
        <p:spPr>
          <a:xfrm>
            <a:off x="5079873" y="3979234"/>
            <a:ext cx="3098723"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What is genuinely new</a:t>
            </a:r>
            <a:endParaRPr lang="en-US" sz="1130" dirty="0"/>
          </a:p>
        </p:txBody>
      </p:sp>
      <p:sp>
        <p:nvSpPr>
          <p:cNvPr id="10" name="text-5-8"/>
          <p:cNvSpPr txBox="1"/>
          <p:nvPr/>
        </p:nvSpPr>
        <p:spPr>
          <a:xfrm>
            <a:off x="5079873" y="4234021"/>
            <a:ext cx="3098723" cy="644176"/>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Reachability proof</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L0, L1 or L2 for every CVE, with file, line and the call chain into the library.</a:t>
            </a:r>
            <a:endParaRPr lang="en-US" sz="1100" dirty="0"/>
          </a:p>
        </p:txBody>
      </p:sp>
      <p:sp>
        <p:nvSpPr>
          <p:cNvPr id="11" name="text-5-9"/>
          <p:cNvSpPr txBox="1"/>
          <p:nvPr/>
        </p:nvSpPr>
        <p:spPr>
          <a:xfrm>
            <a:off x="5079873" y="4917820"/>
            <a:ext cx="3098723"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A fix that works</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smallest safe upgrade plus rewritten functions, checked by a critic loop.</a:t>
            </a:r>
            <a:endParaRPr lang="en-US" sz="1100" dirty="0"/>
          </a:p>
        </p:txBody>
      </p:sp>
      <p:sp>
        <p:nvSpPr>
          <p:cNvPr id="12" name="text-5-10"/>
          <p:cNvSpPr txBox="1"/>
          <p:nvPr/>
        </p:nvSpPr>
        <p:spPr>
          <a:xfrm>
            <a:off x="5079873" y="5399085"/>
            <a:ext cx="3098723"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Human-gated</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nothing touches GitHub until someone approves.</a:t>
            </a:r>
            <a:endParaRPr lang="en-US" sz="1100" dirty="0"/>
          </a:p>
        </p:txBody>
      </p:sp>
      <p:sp>
        <p:nvSpPr>
          <p:cNvPr id="13" name="text-5-11"/>
          <p:cNvSpPr txBox="1"/>
          <p:nvPr/>
        </p:nvSpPr>
        <p:spPr>
          <a:xfrm>
            <a:off x="8466455" y="3979234"/>
            <a:ext cx="3098723"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Why teams choose it</a:t>
            </a:r>
            <a:endParaRPr lang="en-US" sz="1130" dirty="0"/>
          </a:p>
        </p:txBody>
      </p:sp>
      <p:sp>
        <p:nvSpPr>
          <p:cNvPr id="14" name="text-5-12"/>
          <p:cNvSpPr txBox="1"/>
          <p:nvPr/>
        </p:nvSpPr>
        <p:spPr>
          <a:xfrm>
            <a:off x="8466455" y="4234021"/>
            <a:ext cx="3098723"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vs Dependabot / pip-audit</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133 alerts become 1 reachable finding.</a:t>
            </a:r>
            <a:endParaRPr lang="en-US" sz="1100" dirty="0"/>
          </a:p>
        </p:txBody>
      </p:sp>
      <p:sp>
        <p:nvSpPr>
          <p:cNvPr id="15" name="text-5-13"/>
          <p:cNvSpPr txBox="1"/>
          <p:nvPr/>
        </p:nvSpPr>
        <p:spPr>
          <a:xfrm>
            <a:off x="8466455" y="4715286"/>
            <a:ext cx="3098723"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vs Snyk</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open, free data sources, and the evidence is shown, not hidden.</a:t>
            </a:r>
            <a:endParaRPr lang="en-US" sz="1100" dirty="0"/>
          </a:p>
        </p:txBody>
      </p:sp>
      <p:sp>
        <p:nvSpPr>
          <p:cNvPr id="16" name="text-5-14"/>
          <p:cNvSpPr txBox="1"/>
          <p:nvPr/>
        </p:nvSpPr>
        <p:spPr>
          <a:xfrm>
            <a:off x="8466455" y="5196551"/>
            <a:ext cx="3098723" cy="644176"/>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Trustworthy AI</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the LLM never produces facts; every output is checked in code, and it runs with no model at all.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60D"/>
        </a:solidFill>
      </p:bgPr>
    </p:bg>
    <p:spTree>
      <p:nvGrpSpPr>
        <p:cNvPr id="1" name=""/>
        <p:cNvGrpSpPr/>
        <p:nvPr/>
      </p:nvGrpSpPr>
      <p:grpSpPr>
        <a:xfrm>
          <a:off x="0" y="0"/>
          <a:ext cx="0" cy="0"/>
          <a:chOff x="0" y="0"/>
          <a:chExt cx="0" cy="0"/>
        </a:xfrm>
      </p:grpSpPr>
      <p:pic>
        <p:nvPicPr>
          <p:cNvPr id="2" name="Image 0" descr="How it works">    </p:cNvPr>
          <p:cNvPicPr>
            <a:picLocks noChangeAspect="1"/>
          </p:cNvPicPr>
          <p:nvPr/>
        </p:nvPicPr>
        <p:blipFill>
          <a:blip r:embed="rId1"/>
          <a:stretch>
            <a:fillRect/>
          </a:stretch>
        </p:blipFill>
        <p:spPr>
          <a:xfrm>
            <a:off x="0" y="0"/>
            <a:ext cx="12191695" cy="6858000"/>
          </a:xfrm>
          <a:prstGeom prst="rect">
            <a:avLst/>
          </a:prstGeom>
        </p:spPr>
      </p:pic>
      <p:sp>
        <p:nvSpPr>
          <p:cNvPr id="3" name="text-6-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6-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6-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6-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6-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6-6"/>
          <p:cNvSpPr txBox="1"/>
          <p:nvPr/>
        </p:nvSpPr>
        <p:spPr>
          <a:xfrm>
            <a:off x="677316" y="3318850"/>
            <a:ext cx="2590735"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User journey</a:t>
            </a:r>
            <a:endParaRPr lang="en-US" sz="1130" dirty="0"/>
          </a:p>
        </p:txBody>
      </p:sp>
      <p:sp>
        <p:nvSpPr>
          <p:cNvPr id="9" name="text-6-7"/>
          <p:cNvSpPr txBox="1"/>
          <p:nvPr/>
        </p:nvSpPr>
        <p:spPr>
          <a:xfrm>
            <a:off x="677316" y="3573638"/>
            <a:ext cx="2590735" cy="441643"/>
          </a:xfrm>
          <a:prstGeom prst="rect">
            <a:avLst/>
          </a:prstGeom>
          <a:noFill/>
          <a:ln/>
        </p:spPr>
        <p:txBody>
          <a:bodyPr wrap="square" lIns="0" tIns="0" rIns="0" bIns="0" rtlCol="0" anchor="t"/>
          <a:lstStyle/>
          <a:p>
            <a:pPr algn="l" marL="165100" indent="-165100">
              <a:lnSpc>
                <a:spcPts val="1590"/>
              </a:lnSpc>
              <a:buSzPct val="100000"/>
              <a:buFont typeface="+mj-lt"/>
              <a:buAutoNum type="arabicPeriod" startAt="1"/>
            </a:pPr>
            <a:r>
              <a:rPr lang="en-US" sz="1100" dirty="0">
                <a:solidFill>
                  <a:srgbClr val="F2F6FB"/>
                </a:solidFill>
                <a:latin typeface="Arial" pitchFamily="34" charset="0"/>
                <a:ea typeface="Arial" pitchFamily="34" charset="-122"/>
                <a:cs typeface="Arial" pitchFamily="34" charset="-120"/>
              </a:rPr>
              <a:t>Sign in with GitHub and pick a repository.</a:t>
            </a:r>
            <a:endParaRPr lang="en-US" sz="1100" dirty="0"/>
          </a:p>
        </p:txBody>
      </p:sp>
      <p:sp>
        <p:nvSpPr>
          <p:cNvPr id="10" name="text-6-8"/>
          <p:cNvSpPr txBox="1"/>
          <p:nvPr/>
        </p:nvSpPr>
        <p:spPr>
          <a:xfrm>
            <a:off x="677316" y="4054903"/>
            <a:ext cx="2590735" cy="239136"/>
          </a:xfrm>
          <a:prstGeom prst="rect">
            <a:avLst/>
          </a:prstGeom>
          <a:noFill/>
          <a:ln/>
        </p:spPr>
        <p:txBody>
          <a:bodyPr wrap="square" lIns="0" tIns="0" rIns="0" bIns="0" rtlCol="0" anchor="t"/>
          <a:lstStyle/>
          <a:p>
            <a:pPr algn="l" marL="165100" indent="-165100">
              <a:lnSpc>
                <a:spcPts val="1590"/>
              </a:lnSpc>
              <a:buSzPct val="100000"/>
              <a:buFont typeface="+mj-lt"/>
              <a:buAutoNum type="arabicPeriod" startAt="2"/>
            </a:pPr>
            <a:r>
              <a:rPr lang="en-US" sz="1100" dirty="0">
                <a:solidFill>
                  <a:srgbClr val="F2F6FB"/>
                </a:solidFill>
                <a:latin typeface="Arial" pitchFamily="34" charset="0"/>
                <a:ea typeface="Arial" pitchFamily="34" charset="-122"/>
                <a:cs typeface="Arial" pitchFamily="34" charset="-120"/>
              </a:rPr>
              <a:t>Watch each agent run live over SSE.</a:t>
            </a:r>
            <a:endParaRPr lang="en-US" sz="1100" dirty="0"/>
          </a:p>
        </p:txBody>
      </p:sp>
      <p:sp>
        <p:nvSpPr>
          <p:cNvPr id="11" name="text-6-9"/>
          <p:cNvSpPr txBox="1"/>
          <p:nvPr/>
        </p:nvSpPr>
        <p:spPr>
          <a:xfrm>
            <a:off x="677316" y="4333634"/>
            <a:ext cx="2590735" cy="441643"/>
          </a:xfrm>
          <a:prstGeom prst="rect">
            <a:avLst/>
          </a:prstGeom>
          <a:noFill/>
          <a:ln/>
        </p:spPr>
        <p:txBody>
          <a:bodyPr wrap="square" lIns="0" tIns="0" rIns="0" bIns="0" rtlCol="0" anchor="t"/>
          <a:lstStyle/>
          <a:p>
            <a:pPr algn="l" marL="165100" indent="-165100">
              <a:lnSpc>
                <a:spcPts val="1590"/>
              </a:lnSpc>
              <a:buSzPct val="100000"/>
              <a:buFont typeface="+mj-lt"/>
              <a:buAutoNum type="arabicPeriod" startAt="3"/>
            </a:pPr>
            <a:r>
              <a:rPr lang="en-US" sz="1100" dirty="0">
                <a:solidFill>
                  <a:srgbClr val="F2F6FB"/>
                </a:solidFill>
                <a:latin typeface="Arial" pitchFamily="34" charset="0"/>
                <a:ea typeface="Arial" pitchFamily="34" charset="-122"/>
                <a:cs typeface="Arial" pitchFamily="34" charset="-120"/>
              </a:rPr>
              <a:t>Read ranked findings with file:line evidence.</a:t>
            </a:r>
            <a:endParaRPr lang="en-US" sz="1100" dirty="0"/>
          </a:p>
        </p:txBody>
      </p:sp>
      <p:sp>
        <p:nvSpPr>
          <p:cNvPr id="12" name="text-6-10"/>
          <p:cNvSpPr txBox="1"/>
          <p:nvPr/>
        </p:nvSpPr>
        <p:spPr>
          <a:xfrm>
            <a:off x="677316" y="4814899"/>
            <a:ext cx="2590735" cy="441643"/>
          </a:xfrm>
          <a:prstGeom prst="rect">
            <a:avLst/>
          </a:prstGeom>
          <a:noFill/>
          <a:ln/>
        </p:spPr>
        <p:txBody>
          <a:bodyPr wrap="square" lIns="0" tIns="0" rIns="0" bIns="0" rtlCol="0" anchor="t"/>
          <a:lstStyle/>
          <a:p>
            <a:pPr algn="l" marL="165100" indent="-165100">
              <a:lnSpc>
                <a:spcPts val="1590"/>
              </a:lnSpc>
              <a:buSzPct val="100000"/>
              <a:buFont typeface="+mj-lt"/>
              <a:buAutoNum type="arabicPeriod" startAt="4"/>
            </a:pPr>
            <a:r>
              <a:rPr lang="en-US" sz="1100" dirty="0">
                <a:solidFill>
                  <a:srgbClr val="F2F6FB"/>
                </a:solidFill>
                <a:latin typeface="Arial" pitchFamily="34" charset="0"/>
                <a:ea typeface="Arial" pitchFamily="34" charset="-122"/>
                <a:cs typeface="Arial" pitchFamily="34" charset="-120"/>
              </a:rPr>
              <a:t>Review upgrades, rewritten code and PR text.</a:t>
            </a:r>
            <a:endParaRPr lang="en-US" sz="1100" dirty="0"/>
          </a:p>
        </p:txBody>
      </p:sp>
      <p:sp>
        <p:nvSpPr>
          <p:cNvPr id="13" name="text-6-11"/>
          <p:cNvSpPr txBox="1"/>
          <p:nvPr/>
        </p:nvSpPr>
        <p:spPr>
          <a:xfrm>
            <a:off x="677316" y="5296164"/>
            <a:ext cx="2590735" cy="239136"/>
          </a:xfrm>
          <a:prstGeom prst="rect">
            <a:avLst/>
          </a:prstGeom>
          <a:noFill/>
          <a:ln/>
        </p:spPr>
        <p:txBody>
          <a:bodyPr wrap="square" lIns="0" tIns="0" rIns="0" bIns="0" rtlCol="0" anchor="t"/>
          <a:lstStyle/>
          <a:p>
            <a:pPr algn="l" marL="165100" indent="-165100">
              <a:lnSpc>
                <a:spcPts val="1590"/>
              </a:lnSpc>
              <a:buSzPct val="100000"/>
              <a:buFont typeface="+mj-lt"/>
              <a:buAutoNum type="arabicPeriod" startAt="5"/>
            </a:pPr>
            <a:r>
              <a:rPr lang="en-US" sz="1100" dirty="0">
                <a:solidFill>
                  <a:srgbClr val="F2F6FB"/>
                </a:solidFill>
                <a:latin typeface="Arial" pitchFamily="34" charset="0"/>
                <a:ea typeface="Arial" pitchFamily="34" charset="-122"/>
                <a:cs typeface="Arial" pitchFamily="34" charset="-120"/>
              </a:rPr>
              <a:t>Approve, and the pull request opens.</a:t>
            </a:r>
            <a:endParaRPr lang="en-US" sz="1100" dirty="0"/>
          </a:p>
        </p:txBody>
      </p:sp>
      <p:sp>
        <p:nvSpPr>
          <p:cNvPr id="14" name="text-6-12"/>
          <p:cNvSpPr txBox="1"/>
          <p:nvPr/>
        </p:nvSpPr>
        <p:spPr>
          <a:xfrm>
            <a:off x="3386582" y="3318850"/>
            <a:ext cx="2590735"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Decision points</a:t>
            </a:r>
            <a:endParaRPr lang="en-US" sz="1130" dirty="0"/>
          </a:p>
        </p:txBody>
      </p:sp>
      <p:sp>
        <p:nvSpPr>
          <p:cNvPr id="15" name="text-6-13"/>
          <p:cNvSpPr txBox="1"/>
          <p:nvPr/>
        </p:nvSpPr>
        <p:spPr>
          <a:xfrm>
            <a:off x="3386582" y="3573638"/>
            <a:ext cx="2590735" cy="644176"/>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Verifier</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fix still vulnerable or won't resolve? Retry with a new version, max 2, then report.</a:t>
            </a:r>
            <a:endParaRPr lang="en-US" sz="1100" dirty="0"/>
          </a:p>
        </p:txBody>
      </p:sp>
      <p:sp>
        <p:nvSpPr>
          <p:cNvPr id="16" name="text-6-14"/>
          <p:cNvSpPr txBox="1"/>
          <p:nvPr/>
        </p:nvSpPr>
        <p:spPr>
          <a:xfrm>
            <a:off x="3386582" y="4257436"/>
            <a:ext cx="2590735"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Nothing to change</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no reachable fix needed: end with a report.</a:t>
            </a:r>
            <a:endParaRPr lang="en-US" sz="1100" dirty="0"/>
          </a:p>
        </p:txBody>
      </p:sp>
      <p:sp>
        <p:nvSpPr>
          <p:cNvPr id="17" name="text-6-15"/>
          <p:cNvSpPr txBox="1"/>
          <p:nvPr/>
        </p:nvSpPr>
        <p:spPr>
          <a:xfrm>
            <a:off x="3386582" y="4738701"/>
            <a:ext cx="2590735"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Human gate</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rejected: run ends, GitHub is never touched.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60D"/>
        </a:solidFill>
      </p:bgPr>
    </p:bg>
    <p:spTree>
      <p:nvGrpSpPr>
        <p:cNvPr id="1" name=""/>
        <p:cNvGrpSpPr/>
        <p:nvPr/>
      </p:nvGrpSpPr>
      <p:grpSpPr>
        <a:xfrm>
          <a:off x="0" y="0"/>
          <a:ext cx="0" cy="0"/>
          <a:chOff x="0" y="0"/>
          <a:chExt cx="0" cy="0"/>
        </a:xfrm>
      </p:grpSpPr>
      <p:pic>
        <p:nvPicPr>
          <p:cNvPr id="2" name="Image 0" descr="Technology stack">    </p:cNvPr>
          <p:cNvPicPr>
            <a:picLocks noChangeAspect="1"/>
          </p:cNvPicPr>
          <p:nvPr/>
        </p:nvPicPr>
        <p:blipFill>
          <a:blip r:embed="rId1"/>
          <a:stretch>
            <a:fillRect/>
          </a:stretch>
        </p:blipFill>
        <p:spPr>
          <a:xfrm>
            <a:off x="0" y="0"/>
            <a:ext cx="12191695" cy="6858000"/>
          </a:xfrm>
          <a:prstGeom prst="rect">
            <a:avLst/>
          </a:prstGeom>
        </p:spPr>
      </p:pic>
      <p:sp>
        <p:nvSpPr>
          <p:cNvPr id="3" name="text-7-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7-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7-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7-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7-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7-6"/>
          <p:cNvSpPr txBox="1"/>
          <p:nvPr/>
        </p:nvSpPr>
        <p:spPr>
          <a:xfrm>
            <a:off x="7281151" y="1337700"/>
            <a:ext cx="4284026"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Frontend · React 18, TypeScript, Vite, Tailwind v4, shadcn/ui</a:t>
            </a:r>
            <a:endParaRPr lang="en-US" sz="1130" dirty="0"/>
          </a:p>
        </p:txBody>
      </p:sp>
      <p:sp>
        <p:nvSpPr>
          <p:cNvPr id="9" name="text-7-7"/>
          <p:cNvSpPr txBox="1"/>
          <p:nvPr/>
        </p:nvSpPr>
        <p:spPr>
          <a:xfrm>
            <a:off x="7281151" y="1575554"/>
            <a:ext cx="4284026"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Typed contract mirrors backend schemas; instant reloads for a 24-hour build.</a:t>
            </a:r>
            <a:endParaRPr lang="en-US" sz="1000" dirty="0"/>
          </a:p>
        </p:txBody>
      </p:sp>
      <p:sp>
        <p:nvSpPr>
          <p:cNvPr id="10" name="text-7-8"/>
          <p:cNvSpPr txBox="1"/>
          <p:nvPr/>
        </p:nvSpPr>
        <p:spPr>
          <a:xfrm>
            <a:off x="7281151" y="2353674"/>
            <a:ext cx="4284026"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Backend · Python 3.12, FastAPI, Server-Sent Events</a:t>
            </a:r>
            <a:endParaRPr lang="en-US" sz="1130" dirty="0"/>
          </a:p>
        </p:txBody>
      </p:sp>
      <p:sp>
        <p:nvSpPr>
          <p:cNvPr id="11" name="text-7-9"/>
          <p:cNvSpPr txBox="1"/>
          <p:nvPr/>
        </p:nvSpPr>
        <p:spPr>
          <a:xfrm>
            <a:off x="7281151" y="2591529"/>
            <a:ext cx="4284026"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Async and Pydantic-typed. Python's own ast parses the code being audited; pip resolves fixes.</a:t>
            </a:r>
            <a:endParaRPr lang="en-US" sz="1000" dirty="0"/>
          </a:p>
        </p:txBody>
      </p:sp>
      <p:sp>
        <p:nvSpPr>
          <p:cNvPr id="12" name="text-7-10"/>
          <p:cNvSpPr txBox="1"/>
          <p:nvPr/>
        </p:nvSpPr>
        <p:spPr>
          <a:xfrm>
            <a:off x="7281151" y="3369649"/>
            <a:ext cx="4284026"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AI / agents · LangGraph 1.2, Gemini 3.5 Flash, Ollama</a:t>
            </a:r>
            <a:endParaRPr lang="en-US" sz="1130" dirty="0"/>
          </a:p>
        </p:txBody>
      </p:sp>
      <p:sp>
        <p:nvSpPr>
          <p:cNvPr id="13" name="text-7-11"/>
          <p:cNvSpPr txBox="1"/>
          <p:nvPr/>
        </p:nvSpPr>
        <p:spPr>
          <a:xfrm>
            <a:off x="7281151" y="3607504"/>
            <a:ext cx="4284026"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Send() fan-out, cycles and interrupt() built in. CrewAI/AutoGen chat; we need an auditable graph.</a:t>
            </a:r>
            <a:endParaRPr lang="en-US" sz="1000" dirty="0"/>
          </a:p>
        </p:txBody>
      </p:sp>
      <p:sp>
        <p:nvSpPr>
          <p:cNvPr id="14" name="text-7-12"/>
          <p:cNvSpPr txBox="1"/>
          <p:nvPr/>
        </p:nvSpPr>
        <p:spPr>
          <a:xfrm>
            <a:off x="7281151" y="4385624"/>
            <a:ext cx="4284026"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Database · Neon Postgres, SQLite fallback</a:t>
            </a:r>
            <a:endParaRPr lang="en-US" sz="1130" dirty="0"/>
          </a:p>
        </p:txBody>
      </p:sp>
      <p:sp>
        <p:nvSpPr>
          <p:cNvPr id="15" name="text-7-13"/>
          <p:cNvSpPr txBox="1"/>
          <p:nvPr/>
        </p:nvSpPr>
        <p:spPr>
          <a:xfrm>
            <a:off x="7281151" y="4623478"/>
            <a:ext cx="4284026"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Serverless, with a first-party LangGraph checkpointer, so paused audits survive restarts.</a:t>
            </a:r>
            <a:endParaRPr lang="en-US" sz="1000" dirty="0"/>
          </a:p>
        </p:txBody>
      </p:sp>
      <p:sp>
        <p:nvSpPr>
          <p:cNvPr id="16" name="text-7-14"/>
          <p:cNvSpPr txBox="1"/>
          <p:nvPr/>
        </p:nvSpPr>
        <p:spPr>
          <a:xfrm>
            <a:off x="7281151" y="5401598"/>
            <a:ext cx="4284026"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APIs · Syft, OSV.dev, EPSS, CISA KEV, GitHub</a:t>
            </a:r>
            <a:endParaRPr lang="en-US" sz="1130" dirty="0"/>
          </a:p>
        </p:txBody>
      </p:sp>
      <p:sp>
        <p:nvSpPr>
          <p:cNvPr id="17" name="text-7-15"/>
          <p:cNvSpPr txBox="1"/>
          <p:nvPr/>
        </p:nvSpPr>
        <p:spPr>
          <a:xfrm>
            <a:off x="7281151" y="5639453"/>
            <a:ext cx="4284026"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Free, no-key, live vulnerability data with fixed-version ranges; LangSmith traces every agent.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60D"/>
        </a:solidFill>
      </p:bgPr>
    </p:bg>
    <p:spTree>
      <p:nvGrpSpPr>
        <p:cNvPr id="1" name=""/>
        <p:cNvGrpSpPr/>
        <p:nvPr/>
      </p:nvGrpSpPr>
      <p:grpSpPr>
        <a:xfrm>
          <a:off x="0" y="0"/>
          <a:ext cx="0" cy="0"/>
          <a:chOff x="0" y="0"/>
          <a:chExt cx="0" cy="0"/>
        </a:xfrm>
      </p:grpSpPr>
      <p:pic>
        <p:nvPicPr>
          <p:cNvPr id="2" name="Image 0" descr="System architecture">    </p:cNvPr>
          <p:cNvPicPr>
            <a:picLocks noChangeAspect="1"/>
          </p:cNvPicPr>
          <p:nvPr/>
        </p:nvPicPr>
        <p:blipFill>
          <a:blip r:embed="rId1"/>
          <a:stretch>
            <a:fillRect/>
          </a:stretch>
        </p:blipFill>
        <p:spPr>
          <a:xfrm>
            <a:off x="0" y="0"/>
            <a:ext cx="12191695" cy="6858000"/>
          </a:xfrm>
          <a:prstGeom prst="rect">
            <a:avLst/>
          </a:prstGeom>
        </p:spPr>
      </p:pic>
      <p:sp>
        <p:nvSpPr>
          <p:cNvPr id="3" name="text-8-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8-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8-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8-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8-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8-6"/>
          <p:cNvSpPr txBox="1"/>
          <p:nvPr/>
        </p:nvSpPr>
        <p:spPr>
          <a:xfrm>
            <a:off x="677316" y="3318850"/>
            <a:ext cx="2675400"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How components talk</a:t>
            </a:r>
            <a:endParaRPr lang="en-US" sz="1130" dirty="0"/>
          </a:p>
        </p:txBody>
      </p:sp>
      <p:sp>
        <p:nvSpPr>
          <p:cNvPr id="9" name="text-8-7"/>
          <p:cNvSpPr txBox="1"/>
          <p:nvPr/>
        </p:nvSpPr>
        <p:spPr>
          <a:xfrm>
            <a:off x="677316" y="3556705"/>
            <a:ext cx="2675400" cy="1179547"/>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The browser starts an audit over HTTP and follows it over one SSE stream. FastAPI runs the LangGraph pipeline in a worker thread; agents never call each other, they only read and write shared state. Postgres stores audits, cache and graph checkpoints.</a:t>
            </a:r>
            <a:endParaRPr lang="en-US" sz="1000" dirty="0"/>
          </a:p>
        </p:txBody>
      </p:sp>
      <p:sp>
        <p:nvSpPr>
          <p:cNvPr id="10" name="text-8-8"/>
          <p:cNvSpPr txBox="1"/>
          <p:nvPr/>
        </p:nvSpPr>
        <p:spPr>
          <a:xfrm>
            <a:off x="3555911" y="3318850"/>
            <a:ext cx="2590735"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Trust &amp; safety by design</a:t>
            </a:r>
            <a:endParaRPr lang="en-US" sz="1130" dirty="0"/>
          </a:p>
        </p:txBody>
      </p:sp>
      <p:sp>
        <p:nvSpPr>
          <p:cNvPr id="11" name="text-8-9"/>
          <p:cNvSpPr txBox="1"/>
          <p:nvPr/>
        </p:nvSpPr>
        <p:spPr>
          <a:xfrm>
            <a:off x="3555911" y="3573638"/>
            <a:ext cx="2590735" cy="404867"/>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Open PR is the only writer to GitHub, behind the human gate.</a:t>
            </a:r>
            <a:endParaRPr lang="en-US" sz="1000" dirty="0"/>
          </a:p>
        </p:txBody>
      </p:sp>
      <p:sp>
        <p:nvSpPr>
          <p:cNvPr id="12" name="text-8-10"/>
          <p:cNvSpPr txBox="1"/>
          <p:nvPr/>
        </p:nvSpPr>
        <p:spPr>
          <a:xfrm>
            <a:off x="3555911" y="4018127"/>
            <a:ext cx="2590735" cy="220721"/>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No automatic major-version bumps.</a:t>
            </a:r>
            <a:endParaRPr lang="en-US" sz="1000" dirty="0"/>
          </a:p>
        </p:txBody>
      </p:sp>
      <p:sp>
        <p:nvSpPr>
          <p:cNvPr id="13" name="text-8-11"/>
          <p:cNvSpPr txBox="1"/>
          <p:nvPr/>
        </p:nvSpPr>
        <p:spPr>
          <a:xfrm>
            <a:off x="3555911" y="4278470"/>
            <a:ext cx="2590735" cy="404867"/>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GitHub token stays server-side, encrypted at rest.</a:t>
            </a:r>
            <a:endParaRPr lang="en-US" sz="1000" dirty="0"/>
          </a:p>
        </p:txBody>
      </p:sp>
      <p:sp>
        <p:nvSpPr>
          <p:cNvPr id="14" name="text-8-12"/>
          <p:cNvSpPr txBox="1"/>
          <p:nvPr/>
        </p:nvSpPr>
        <p:spPr>
          <a:xfrm>
            <a:off x="3555911" y="4722959"/>
            <a:ext cx="2590735" cy="404867"/>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Each repo installs in its own isolated virtualenv.</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60D"/>
        </a:solidFill>
      </p:bgPr>
    </p:bg>
    <p:spTree>
      <p:nvGrpSpPr>
        <p:cNvPr id="1" name=""/>
        <p:cNvGrpSpPr/>
        <p:nvPr/>
      </p:nvGrpSpPr>
      <p:grpSpPr>
        <a:xfrm>
          <a:off x="0" y="0"/>
          <a:ext cx="0" cy="0"/>
          <a:chOff x="0" y="0"/>
          <a:chExt cx="0" cy="0"/>
        </a:xfrm>
      </p:grpSpPr>
      <p:pic>
        <p:nvPicPr>
          <p:cNvPr id="2" name="Image 0" descr="Built &amp; verified">    </p:cNvPr>
          <p:cNvPicPr>
            <a:picLocks noChangeAspect="1"/>
          </p:cNvPicPr>
          <p:nvPr/>
        </p:nvPicPr>
        <p:blipFill>
          <a:blip r:embed="rId1"/>
          <a:stretch>
            <a:fillRect/>
          </a:stretch>
        </p:blipFill>
        <p:spPr>
          <a:xfrm>
            <a:off x="0" y="0"/>
            <a:ext cx="12191695" cy="6858000"/>
          </a:xfrm>
          <a:prstGeom prst="rect">
            <a:avLst/>
          </a:prstGeom>
        </p:spPr>
      </p:pic>
      <p:sp>
        <p:nvSpPr>
          <p:cNvPr id="3" name="text-9-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9-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9-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9-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9-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Impact</a:t>
            </a:r>
            <a:endParaRPr lang="en-US" sz="1330" dirty="0"/>
          </a:p>
        </p:txBody>
      </p:sp>
      <p:sp>
        <p:nvSpPr>
          <p:cNvPr id="8" name="text-9-6"/>
          <p:cNvSpPr txBox="1"/>
          <p:nvPr/>
        </p:nvSpPr>
        <p:spPr>
          <a:xfrm>
            <a:off x="6603835" y="1396965"/>
            <a:ext cx="2336742"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Prototype status</a:t>
            </a:r>
            <a:endParaRPr lang="en-US" sz="1130" dirty="0"/>
          </a:p>
        </p:txBody>
      </p:sp>
      <p:sp>
        <p:nvSpPr>
          <p:cNvPr id="9" name="text-9-7"/>
          <p:cNvSpPr txBox="1"/>
          <p:nvPr/>
        </p:nvSpPr>
        <p:spPr>
          <a:xfrm>
            <a:off x="6603835" y="1651752"/>
            <a:ext cx="2336742" cy="404867"/>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Working end to end on real public repos.</a:t>
            </a:r>
            <a:endParaRPr lang="en-US" sz="1000" dirty="0"/>
          </a:p>
        </p:txBody>
      </p:sp>
      <p:sp>
        <p:nvSpPr>
          <p:cNvPr id="10" name="text-9-8"/>
          <p:cNvSpPr txBox="1"/>
          <p:nvPr/>
        </p:nvSpPr>
        <p:spPr>
          <a:xfrm>
            <a:off x="6603835" y="2096241"/>
            <a:ext cx="2336742" cy="404867"/>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55 backend tests pass with no network.</a:t>
            </a:r>
            <a:endParaRPr lang="en-US" sz="1000" dirty="0"/>
          </a:p>
        </p:txBody>
      </p:sp>
      <p:sp>
        <p:nvSpPr>
          <p:cNvPr id="11" name="text-9-9"/>
          <p:cNvSpPr txBox="1"/>
          <p:nvPr/>
        </p:nvSpPr>
        <p:spPr>
          <a:xfrm>
            <a:off x="6603835" y="2540730"/>
            <a:ext cx="2336742" cy="404867"/>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Verified live against OSV, EPSS and CISA KEV.</a:t>
            </a:r>
            <a:endParaRPr lang="en-US" sz="1000" dirty="0"/>
          </a:p>
        </p:txBody>
      </p:sp>
      <p:sp>
        <p:nvSpPr>
          <p:cNvPr id="12" name="text-9-10"/>
          <p:cNvSpPr txBox="1"/>
          <p:nvPr/>
        </p:nvSpPr>
        <p:spPr>
          <a:xfrm>
            <a:off x="6603835" y="2985219"/>
            <a:ext cx="2336742" cy="404867"/>
          </a:xfrm>
          <a:prstGeom prst="rect">
            <a:avLst/>
          </a:prstGeom>
          <a:noFill/>
          <a:ln/>
        </p:spPr>
        <p:txBody>
          <a:bodyPr wrap="square" lIns="0" tIns="0" rIns="0" bIns="0" rtlCol="0" anchor="t"/>
          <a:lstStyle/>
          <a:p>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Real pull requests opened through GitHub.</a:t>
            </a:r>
            <a:endParaRPr lang="en-US" sz="1000" dirty="0"/>
          </a:p>
        </p:txBody>
      </p:sp>
      <p:sp>
        <p:nvSpPr>
          <p:cNvPr id="13" name="text-9-11"/>
          <p:cNvSpPr txBox="1"/>
          <p:nvPr/>
        </p:nvSpPr>
        <p:spPr>
          <a:xfrm>
            <a:off x="9143771" y="1396965"/>
            <a:ext cx="2421406"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24-hour build strategy</a:t>
            </a:r>
            <a:endParaRPr lang="en-US" sz="1130" dirty="0"/>
          </a:p>
        </p:txBody>
      </p:sp>
      <p:sp>
        <p:nvSpPr>
          <p:cNvPr id="14" name="text-9-12"/>
          <p:cNvSpPr txBox="1"/>
          <p:nvPr/>
        </p:nvSpPr>
        <p:spPr>
          <a:xfrm>
            <a:off x="9143771" y="1651752"/>
            <a:ext cx="2421406" cy="404867"/>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0–2h</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freeze state schema, stub all agents.</a:t>
            </a:r>
            <a:endParaRPr lang="en-US" sz="1000" dirty="0"/>
          </a:p>
        </p:txBody>
      </p:sp>
      <p:sp>
        <p:nvSpPr>
          <p:cNvPr id="15" name="text-9-13"/>
          <p:cNvSpPr txBox="1"/>
          <p:nvPr/>
        </p:nvSpPr>
        <p:spPr>
          <a:xfrm>
            <a:off x="9143771" y="2096241"/>
            <a:ext cx="2421406" cy="220721"/>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2–10h</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real data, AST scanner, SSE UI.</a:t>
            </a:r>
            <a:endParaRPr lang="en-US" sz="1000" dirty="0"/>
          </a:p>
        </p:txBody>
      </p:sp>
      <p:sp>
        <p:nvSpPr>
          <p:cNvPr id="16" name="text-9-14"/>
          <p:cNvSpPr txBox="1"/>
          <p:nvPr/>
        </p:nvSpPr>
        <p:spPr>
          <a:xfrm>
            <a:off x="9143771" y="2356585"/>
            <a:ext cx="2421406" cy="404867"/>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10–16h</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critic loop, interrupt/resume, integrate.</a:t>
            </a:r>
            <a:endParaRPr lang="en-US" sz="1000" dirty="0"/>
          </a:p>
        </p:txBody>
      </p:sp>
      <p:sp>
        <p:nvSpPr>
          <p:cNvPr id="17" name="text-9-15"/>
          <p:cNvSpPr txBox="1"/>
          <p:nvPr/>
        </p:nvSpPr>
        <p:spPr>
          <a:xfrm>
            <a:off x="9143771" y="2801074"/>
            <a:ext cx="2421406" cy="220721"/>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16–24h</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polish, warm cache, rehearse.</a:t>
            </a:r>
            <a:endParaRPr lang="en-US" sz="1000" dirty="0"/>
          </a:p>
        </p:txBody>
      </p:sp>
      <p:sp>
        <p:nvSpPr>
          <p:cNvPr id="18" name="text-9-16"/>
          <p:cNvSpPr txBox="1"/>
          <p:nvPr/>
        </p:nvSpPr>
        <p:spPr>
          <a:xfrm>
            <a:off x="3809905" y="4571886"/>
            <a:ext cx="3268052"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Challenges → mitigation</a:t>
            </a:r>
            <a:endParaRPr lang="en-US" sz="1130" dirty="0"/>
          </a:p>
        </p:txBody>
      </p:sp>
      <p:sp>
        <p:nvSpPr>
          <p:cNvPr id="19" name="text-9-17"/>
          <p:cNvSpPr txBox="1"/>
          <p:nvPr/>
        </p:nvSpPr>
        <p:spPr>
          <a:xfrm>
            <a:off x="3809905" y="4826673"/>
            <a:ext cx="3268052" cy="404867"/>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LLM invents names</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 validated against package source.</a:t>
            </a:r>
            <a:endParaRPr lang="en-US" sz="1000" dirty="0"/>
          </a:p>
        </p:txBody>
      </p:sp>
      <p:sp>
        <p:nvSpPr>
          <p:cNvPr id="20" name="text-9-18"/>
          <p:cNvSpPr txBox="1"/>
          <p:nvPr/>
        </p:nvSpPr>
        <p:spPr>
          <a:xfrm>
            <a:off x="3809905" y="5271162"/>
            <a:ext cx="3268052" cy="404867"/>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Venue network fails</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 DB cache and OFFLINE mode.</a:t>
            </a:r>
            <a:endParaRPr lang="en-US" sz="1000" dirty="0"/>
          </a:p>
        </p:txBody>
      </p:sp>
      <p:sp>
        <p:nvSpPr>
          <p:cNvPr id="21" name="text-9-19"/>
          <p:cNvSpPr txBox="1"/>
          <p:nvPr/>
        </p:nvSpPr>
        <p:spPr>
          <a:xfrm>
            <a:off x="3809905" y="5715651"/>
            <a:ext cx="3268052" cy="220721"/>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Bad fix</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 verifier loop, dry-run resolve.</a:t>
            </a:r>
            <a:endParaRPr lang="en-US" sz="1000" dirty="0"/>
          </a:p>
        </p:txBody>
      </p:sp>
      <p:sp>
        <p:nvSpPr>
          <p:cNvPr id="22" name="text-9-20"/>
          <p:cNvSpPr txBox="1"/>
          <p:nvPr/>
        </p:nvSpPr>
        <p:spPr>
          <a:xfrm>
            <a:off x="3809905" y="5975994"/>
            <a:ext cx="3268052" cy="220721"/>
          </a:xfrm>
          <a:prstGeom prst="rect">
            <a:avLst/>
          </a:prstGeom>
          <a:noFill/>
          <a:ln/>
        </p:spPr>
        <p:txBody>
          <a:bodyPr wrap="square" lIns="0" tIns="0" rIns="0" bIns="0" rtlCol="0" anchor="t"/>
          <a:lstStyle/>
          <a:p>
            <a:pPr algn="l" marL="165100" indent="-165100">
              <a:lnSpc>
                <a:spcPts val="1450"/>
              </a:lnSpc>
              <a:buSzPct val="100000"/>
              <a:buChar char="•"/>
            </a:pPr>
            <a:r>
              <a:rPr lang="en-US" sz="1000" b="1" dirty="0">
                <a:solidFill>
                  <a:srgbClr val="BFDDF7"/>
                </a:solidFill>
                <a:latin typeface="Arial" pitchFamily="34" charset="0"/>
                <a:ea typeface="Arial" pitchFamily="34" charset="-122"/>
                <a:cs typeface="Arial" pitchFamily="34" charset="-120"/>
              </a:rPr>
              <a:t>Restart mid-approval</a:t>
            </a:r>
            <a:pPr algn="l" marL="165100" indent="-165100">
              <a:lnSpc>
                <a:spcPts val="1450"/>
              </a:lnSpc>
              <a:buSzPct val="100000"/>
              <a:buChar char="•"/>
            </a:pPr>
            <a:r>
              <a:rPr lang="en-US" sz="1000" dirty="0">
                <a:solidFill>
                  <a:srgbClr val="F2F6FB"/>
                </a:solidFill>
                <a:latin typeface="Arial" pitchFamily="34" charset="0"/>
                <a:ea typeface="Arial" pitchFamily="34" charset="-122"/>
                <a:cs typeface="Arial" pitchFamily="34" charset="-120"/>
              </a:rPr>
              <a:t> → Postgres checkpoints.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60D"/>
        </a:solidFill>
      </p:bgPr>
    </p:bg>
    <p:spTree>
      <p:nvGrpSpPr>
        <p:cNvPr id="1" name=""/>
        <p:cNvGrpSpPr/>
        <p:nvPr/>
      </p:nvGrpSpPr>
      <p:grpSpPr>
        <a:xfrm>
          <a:off x="0" y="0"/>
          <a:ext cx="0" cy="0"/>
          <a:chOff x="0" y="0"/>
          <a:chExt cx="0" cy="0"/>
        </a:xfrm>
      </p:grpSpPr>
      <p:pic>
        <p:nvPicPr>
          <p:cNvPr id="2" name="Image 0" descr="Future scope">    </p:cNvPr>
          <p:cNvPicPr>
            <a:picLocks noChangeAspect="1"/>
          </p:cNvPicPr>
          <p:nvPr/>
        </p:nvPicPr>
        <p:blipFill>
          <a:blip r:embed="rId1"/>
          <a:stretch>
            <a:fillRect/>
          </a:stretch>
        </p:blipFill>
        <p:spPr>
          <a:xfrm>
            <a:off x="0" y="0"/>
            <a:ext cx="12191695" cy="6858000"/>
          </a:xfrm>
          <a:prstGeom prst="rect">
            <a:avLst/>
          </a:prstGeom>
        </p:spPr>
      </p:pic>
      <p:sp>
        <p:nvSpPr>
          <p:cNvPr id="3" name="text-10-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10-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10-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10-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10-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Impact</a:t>
            </a:r>
            <a:endParaRPr lang="en-US" sz="1330" dirty="0"/>
          </a:p>
        </p:txBody>
      </p:sp>
      <p:sp>
        <p:nvSpPr>
          <p:cNvPr id="8" name="text-10-6"/>
          <p:cNvSpPr txBox="1"/>
          <p:nvPr/>
        </p:nvSpPr>
        <p:spPr>
          <a:xfrm>
            <a:off x="5418531" y="3428914"/>
            <a:ext cx="284472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GitHub Action</a:t>
            </a:r>
            <a:endParaRPr lang="en-US" sz="1130" dirty="0"/>
          </a:p>
        </p:txBody>
      </p:sp>
      <p:sp>
        <p:nvSpPr>
          <p:cNvPr id="9" name="text-10-7"/>
          <p:cNvSpPr txBox="1"/>
          <p:nvPr/>
        </p:nvSpPr>
        <p:spPr>
          <a:xfrm>
            <a:off x="5418531" y="3666769"/>
            <a:ext cx="2844729"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Run the graph on every pull request and comment the risk change it introduces.</a:t>
            </a:r>
            <a:endParaRPr lang="en-US" sz="1000" dirty="0"/>
          </a:p>
        </p:txBody>
      </p:sp>
      <p:sp>
        <p:nvSpPr>
          <p:cNvPr id="10" name="text-10-8"/>
          <p:cNvSpPr txBox="1"/>
          <p:nvPr/>
        </p:nvSpPr>
        <p:spPr>
          <a:xfrm>
            <a:off x="8551120" y="3428914"/>
            <a:ext cx="284472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Blockchain trust layer</a:t>
            </a:r>
            <a:endParaRPr lang="en-US" sz="1130" dirty="0"/>
          </a:p>
        </p:txBody>
      </p:sp>
      <p:sp>
        <p:nvSpPr>
          <p:cNvPr id="11" name="text-10-9"/>
          <p:cNvSpPr txBox="1"/>
          <p:nvPr/>
        </p:nvSpPr>
        <p:spPr>
          <a:xfrm>
            <a:off x="8551120" y="3666769"/>
            <a:ext cx="2844729" cy="608062"/>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Sign each SBOM and audit result and anchor the hash on-chain, so anyone can verify what was audited and when.</a:t>
            </a:r>
            <a:endParaRPr lang="en-US" sz="1000" dirty="0"/>
          </a:p>
        </p:txBody>
      </p:sp>
      <p:sp>
        <p:nvSpPr>
          <p:cNvPr id="12" name="text-10-10"/>
          <p:cNvSpPr txBox="1"/>
          <p:nvPr/>
        </p:nvSpPr>
        <p:spPr>
          <a:xfrm>
            <a:off x="5418531" y="4427956"/>
            <a:ext cx="284472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Safer verification</a:t>
            </a:r>
            <a:endParaRPr lang="en-US" sz="1130" dirty="0"/>
          </a:p>
        </p:txBody>
      </p:sp>
      <p:sp>
        <p:nvSpPr>
          <p:cNvPr id="13" name="text-10-11"/>
          <p:cNvSpPr txBox="1"/>
          <p:nvPr/>
        </p:nvSpPr>
        <p:spPr>
          <a:xfrm>
            <a:off x="5418531" y="4665810"/>
            <a:ext cx="2844729"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Sandboxed installs in a container or microVM, and the project's own tests run against the fix.</a:t>
            </a:r>
            <a:endParaRPr lang="en-US" sz="1000" dirty="0"/>
          </a:p>
        </p:txBody>
      </p:sp>
      <p:sp>
        <p:nvSpPr>
          <p:cNvPr id="14" name="text-10-12"/>
          <p:cNvSpPr txBox="1"/>
          <p:nvPr/>
        </p:nvSpPr>
        <p:spPr>
          <a:xfrm>
            <a:off x="8551120" y="4427956"/>
            <a:ext cx="284472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More ecosystems</a:t>
            </a:r>
            <a:endParaRPr lang="en-US" sz="1130" dirty="0"/>
          </a:p>
        </p:txBody>
      </p:sp>
      <p:sp>
        <p:nvSpPr>
          <p:cNvPr id="15" name="text-10-13"/>
          <p:cNvSpPr txBox="1"/>
          <p:nvPr/>
        </p:nvSpPr>
        <p:spPr>
          <a:xfrm>
            <a:off x="8551120" y="4665810"/>
            <a:ext cx="2844729" cy="608062"/>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npm and Java through three adapters each: installer, tree-sitter parser, OSV ecosystem name.</a:t>
            </a:r>
            <a:endParaRPr lang="en-US" sz="1000" dirty="0"/>
          </a:p>
        </p:txBody>
      </p:sp>
      <p:sp>
        <p:nvSpPr>
          <p:cNvPr id="16" name="text-10-14"/>
          <p:cNvSpPr txBox="1"/>
          <p:nvPr/>
        </p:nvSpPr>
        <p:spPr>
          <a:xfrm>
            <a:off x="5418531" y="5426998"/>
            <a:ext cx="284472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Scale out</a:t>
            </a:r>
            <a:endParaRPr lang="en-US" sz="1130" dirty="0"/>
          </a:p>
        </p:txBody>
      </p:sp>
      <p:sp>
        <p:nvSpPr>
          <p:cNvPr id="17" name="text-10-15"/>
          <p:cNvSpPr txBox="1"/>
          <p:nvPr/>
        </p:nvSpPr>
        <p:spPr>
          <a:xfrm>
            <a:off x="5418531" y="5664852"/>
            <a:ext cx="2844729"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Job queue and workers on the checkpointed graph; organisations, roles and rate limits.</a:t>
            </a:r>
            <a:endParaRPr lang="en-US" sz="1000" dirty="0"/>
          </a:p>
        </p:txBody>
      </p:sp>
      <p:sp>
        <p:nvSpPr>
          <p:cNvPr id="18" name="text-10-16"/>
          <p:cNvSpPr txBox="1"/>
          <p:nvPr/>
        </p:nvSpPr>
        <p:spPr>
          <a:xfrm>
            <a:off x="8551120" y="5426998"/>
            <a:ext cx="2844729"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Smarter AI triage</a:t>
            </a:r>
            <a:endParaRPr lang="en-US" sz="1130" dirty="0"/>
          </a:p>
        </p:txBody>
      </p:sp>
      <p:sp>
        <p:nvSpPr>
          <p:cNvPr id="19" name="text-10-17"/>
          <p:cNvSpPr txBox="1"/>
          <p:nvPr/>
        </p:nvSpPr>
        <p:spPr>
          <a:xfrm>
            <a:off x="8551120" y="5664852"/>
            <a:ext cx="2844729" cy="417566"/>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LLM-assisted exploitability notes for L2 findings, still checked against evidence.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60D"/>
        </a:solidFill>
      </p:bgPr>
    </p:bg>
    <p:spTree>
      <p:nvGrpSpPr>
        <p:cNvPr id="1" name=""/>
        <p:cNvGrpSpPr/>
        <p:nvPr/>
      </p:nvGrpSpPr>
      <p:grpSpPr>
        <a:xfrm>
          <a:off x="0" y="0"/>
          <a:ext cx="0" cy="0"/>
          <a:chOff x="0" y="0"/>
          <a:chExt cx="0" cy="0"/>
        </a:xfrm>
      </p:grpSpPr>
      <p:pic>
        <p:nvPicPr>
          <p:cNvPr id="2" name="Image 0" descr="Conclusion">    </p:cNvPr>
          <p:cNvPicPr>
            <a:picLocks noChangeAspect="1"/>
          </p:cNvPicPr>
          <p:nvPr/>
        </p:nvPicPr>
        <p:blipFill>
          <a:blip r:embed="rId1"/>
          <a:stretch>
            <a:fillRect/>
          </a:stretch>
        </p:blipFill>
        <p:spPr>
          <a:xfrm>
            <a:off x="0" y="0"/>
            <a:ext cx="12191695" cy="6858000"/>
          </a:xfrm>
          <a:prstGeom prst="rect">
            <a:avLst/>
          </a:prstGeom>
        </p:spPr>
      </p:pic>
      <p:sp>
        <p:nvSpPr>
          <p:cNvPr id="3" name="text-11-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11-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11-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11-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11-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Impact</a:t>
            </a:r>
            <a:endParaRPr lang="en-US" sz="1330" dirty="0"/>
          </a:p>
        </p:txBody>
      </p:sp>
      <p:sp>
        <p:nvSpPr>
          <p:cNvPr id="8" name="text-11-6"/>
          <p:cNvSpPr txBox="1"/>
          <p:nvPr/>
        </p:nvSpPr>
        <p:spPr>
          <a:xfrm>
            <a:off x="5418531" y="1422364"/>
            <a:ext cx="3098723"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Key takeaway</a:t>
            </a:r>
            <a:endParaRPr lang="en-US" sz="1130" dirty="0"/>
          </a:p>
        </p:txBody>
      </p:sp>
      <p:sp>
        <p:nvSpPr>
          <p:cNvPr id="9" name="text-11-7"/>
          <p:cNvSpPr txBox="1"/>
          <p:nvPr/>
        </p:nvSpPr>
        <p:spPr>
          <a:xfrm>
            <a:off x="5418531" y="1660219"/>
            <a:ext cx="3098723" cy="1001752"/>
          </a:xfrm>
          <a:prstGeom prst="rect">
            <a:avLst/>
          </a:prstGeom>
          <a:noFill/>
          <a:ln/>
        </p:spPr>
        <p:txBody>
          <a:bodyPr wrap="square" lIns="0" tIns="0" rIns="0" bIns="0" rtlCol="0" anchor="t"/>
          <a:lstStyle/>
          <a:p>
            <a:pPr algn="l" indent="0" marL="0">
              <a:lnSpc>
                <a:spcPts val="1900"/>
              </a:lnSpc>
              <a:buNone/>
            </a:pPr>
            <a:r>
              <a:rPr lang="en-US" sz="1270" dirty="0">
                <a:solidFill>
                  <a:srgbClr val="EAF2FB"/>
                </a:solidFill>
                <a:latin typeface="Arial" pitchFamily="34" charset="0"/>
                <a:ea typeface="Arial" pitchFamily="34" charset="-122"/>
                <a:cs typeface="Arial" pitchFamily="34" charset="-120"/>
              </a:rPr>
              <a:t>Scanners tell you the vulnerable code is on your disk. Threat Pilot tells you whether your program runs it, and hands you the fix.</a:t>
            </a:r>
            <a:endParaRPr lang="en-US" sz="1270" dirty="0"/>
          </a:p>
        </p:txBody>
      </p:sp>
      <p:sp>
        <p:nvSpPr>
          <p:cNvPr id="10" name="text-11-8"/>
          <p:cNvSpPr txBox="1"/>
          <p:nvPr/>
        </p:nvSpPr>
        <p:spPr>
          <a:xfrm>
            <a:off x="5418531" y="3149521"/>
            <a:ext cx="3183387"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Three strongest benefits</a:t>
            </a:r>
            <a:endParaRPr lang="en-US" sz="1130" dirty="0"/>
          </a:p>
        </p:txBody>
      </p:sp>
      <p:sp>
        <p:nvSpPr>
          <p:cNvPr id="11" name="text-11-9"/>
          <p:cNvSpPr txBox="1"/>
          <p:nvPr/>
        </p:nvSpPr>
        <p:spPr>
          <a:xfrm>
            <a:off x="5418531" y="4890436"/>
            <a:ext cx="3183387" cy="223685"/>
          </a:xfrm>
          <a:prstGeom prst="rect">
            <a:avLst/>
          </a:prstGeom>
          <a:noFill/>
          <a:ln/>
        </p:spPr>
        <p:txBody>
          <a:bodyPr wrap="square" lIns="0" tIns="0" rIns="0" bIns="0" rtlCol="0" anchor="t"/>
          <a:lstStyle/>
          <a:p>
            <a:pPr algn="l" indent="0" marL="0">
              <a:lnSpc>
                <a:spcPts val="1470"/>
              </a:lnSpc>
              <a:buNone/>
            </a:pPr>
            <a:r>
              <a:rPr lang="en-US" sz="1130" b="1" dirty="0">
                <a:solidFill>
                  <a:srgbClr val="6CB4EE"/>
                </a:solidFill>
                <a:latin typeface="Arial" pitchFamily="34" charset="0"/>
                <a:ea typeface="Arial" pitchFamily="34" charset="-122"/>
                <a:cs typeface="Arial" pitchFamily="34" charset="-120"/>
              </a:rPr>
              <a:t>Vision</a:t>
            </a:r>
            <a:endParaRPr lang="en-US" sz="1130" dirty="0"/>
          </a:p>
        </p:txBody>
      </p:sp>
      <p:sp>
        <p:nvSpPr>
          <p:cNvPr id="12" name="text-11-10"/>
          <p:cNvSpPr txBox="1"/>
          <p:nvPr/>
        </p:nvSpPr>
        <p:spPr>
          <a:xfrm>
            <a:off x="5418531" y="5128291"/>
            <a:ext cx="3183387" cy="608062"/>
          </a:xfrm>
          <a:prstGeom prst="rect">
            <a:avLst/>
          </a:prstGeom>
          <a:noFill/>
          <a:ln/>
        </p:spPr>
        <p:txBody>
          <a:bodyPr wrap="square" lIns="0" tIns="0" rIns="0" bIns="0" rtlCol="0" anchor="t"/>
          <a:lstStyle/>
          <a:p>
            <a:pPr algn="l" indent="0" marL="0">
              <a:lnSpc>
                <a:spcPts val="1500"/>
              </a:lnSpc>
              <a:buNone/>
            </a:pPr>
            <a:r>
              <a:rPr lang="en-US" sz="1000" dirty="0">
                <a:solidFill>
                  <a:srgbClr val="F2F6FB"/>
                </a:solidFill>
                <a:latin typeface="Arial" pitchFamily="34" charset="0"/>
                <a:ea typeface="Arial" pitchFamily="34" charset="-122"/>
                <a:cs typeface="Arial" pitchFamily="34" charset="-120"/>
              </a:rPr>
              <a:t>Every dependency alert arrives with proof and a reviewed fix: supply-chain security teams actually act on.</a:t>
            </a:r>
            <a:endParaRPr lang="en-US" sz="1000" dirty="0"/>
          </a:p>
        </p:txBody>
      </p:sp>
      <p:sp>
        <p:nvSpPr>
          <p:cNvPr id="13" name="text-11-11"/>
          <p:cNvSpPr txBox="1"/>
          <p:nvPr/>
        </p:nvSpPr>
        <p:spPr>
          <a:xfrm>
            <a:off x="5418531" y="3404309"/>
            <a:ext cx="3183387"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Focus</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139 alerts become 2 that need action today.</a:t>
            </a:r>
            <a:endParaRPr lang="en-US" sz="1100" dirty="0"/>
          </a:p>
        </p:txBody>
      </p:sp>
      <p:sp>
        <p:nvSpPr>
          <p:cNvPr id="14" name="text-11-12"/>
          <p:cNvSpPr txBox="1"/>
          <p:nvPr/>
        </p:nvSpPr>
        <p:spPr>
          <a:xfrm>
            <a:off x="5418531" y="3885574"/>
            <a:ext cx="3183387"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Trust</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file:line evidence, a verified fix and a human gate.</a:t>
            </a:r>
            <a:endParaRPr lang="en-US" sz="1100" dirty="0"/>
          </a:p>
        </p:txBody>
      </p:sp>
      <p:sp>
        <p:nvSpPr>
          <p:cNvPr id="15" name="text-11-13"/>
          <p:cNvSpPr txBox="1"/>
          <p:nvPr/>
        </p:nvSpPr>
        <p:spPr>
          <a:xfrm>
            <a:off x="5418531" y="4366839"/>
            <a:ext cx="3183387" cy="441643"/>
          </a:xfrm>
          <a:prstGeom prst="rect">
            <a:avLst/>
          </a:prstGeom>
          <a:noFill/>
          <a:ln/>
        </p:spPr>
        <p:txBody>
          <a:bodyPr wrap="square" lIns="0" tIns="0" rIns="0" bIns="0" rtlCol="0" anchor="t"/>
          <a:lstStyle/>
          <a:p>
            <a:pPr algn="l" marL="165100" indent="-165100">
              <a:lnSpc>
                <a:spcPts val="1590"/>
              </a:lnSpc>
              <a:buSzPct val="100000"/>
              <a:buChar char="•"/>
            </a:pPr>
            <a:r>
              <a:rPr lang="en-US" sz="1100" b="1" dirty="0">
                <a:solidFill>
                  <a:srgbClr val="BFDDF7"/>
                </a:solidFill>
                <a:latin typeface="Arial" pitchFamily="34" charset="0"/>
                <a:ea typeface="Arial" pitchFamily="34" charset="-122"/>
                <a:cs typeface="Arial" pitchFamily="34" charset="-120"/>
              </a:rPr>
              <a:t>Speed</a:t>
            </a:r>
            <a:pPr algn="l" marL="165100" indent="-165100">
              <a:lnSpc>
                <a:spcPts val="1590"/>
              </a:lnSpc>
              <a:buSzPct val="100000"/>
              <a:buChar char="•"/>
            </a:pPr>
            <a:r>
              <a:rPr lang="en-US" sz="1100" dirty="0">
                <a:solidFill>
                  <a:srgbClr val="F2F6FB"/>
                </a:solidFill>
                <a:latin typeface="Arial" pitchFamily="34" charset="0"/>
                <a:ea typeface="Arial" pitchFamily="34" charset="-122"/>
                <a:cs typeface="Arial" pitchFamily="34" charset="-120"/>
              </a:rPr>
              <a:t> the pull request is drafted, checked and ready.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60D"/>
        </a:solidFill>
      </p:bgPr>
    </p:bg>
    <p:spTree>
      <p:nvGrpSpPr>
        <p:cNvPr id="1" name=""/>
        <p:cNvGrpSpPr/>
        <p:nvPr/>
      </p:nvGrpSpPr>
      <p:grpSpPr>
        <a:xfrm>
          <a:off x="0" y="0"/>
          <a:ext cx="0" cy="0"/>
          <a:chOff x="0" y="0"/>
          <a:chExt cx="0" cy="0"/>
        </a:xfrm>
      </p:grpSpPr>
      <p:pic>
        <p:nvPicPr>
          <p:cNvPr id="2" name="Image 0" descr="Thank you">    </p:cNvPr>
          <p:cNvPicPr>
            <a:picLocks noChangeAspect="1"/>
          </p:cNvPicPr>
          <p:nvPr/>
        </p:nvPicPr>
        <p:blipFill>
          <a:blip r:embed="rId1"/>
          <a:stretch>
            <a:fillRect/>
          </a:stretch>
        </p:blipFill>
        <p:spPr>
          <a:xfrm>
            <a:off x="0" y="0"/>
            <a:ext cx="12191695" cy="6858000"/>
          </a:xfrm>
          <a:prstGeom prst="rect">
            <a:avLst/>
          </a:prstGeom>
        </p:spPr>
      </p:pic>
      <p:sp>
        <p:nvSpPr>
          <p:cNvPr id="3" name="text-12-1"/>
          <p:cNvSpPr txBox="1"/>
          <p:nvPr/>
        </p:nvSpPr>
        <p:spPr>
          <a:xfrm>
            <a:off x="846646"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Home</a:t>
            </a:r>
            <a:endParaRPr lang="en-US" sz="1330" dirty="0"/>
          </a:p>
        </p:txBody>
      </p:sp>
      <p:sp>
        <p:nvSpPr>
          <p:cNvPr id="4" name="text-12-2"/>
          <p:cNvSpPr txBox="1"/>
          <p:nvPr/>
        </p:nvSpPr>
        <p:spPr>
          <a:xfrm>
            <a:off x="3047924"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Problem</a:t>
            </a:r>
            <a:endParaRPr lang="en-US" sz="1330" dirty="0"/>
          </a:p>
        </p:txBody>
      </p:sp>
      <p:sp>
        <p:nvSpPr>
          <p:cNvPr id="5" name="text-12-3"/>
          <p:cNvSpPr txBox="1"/>
          <p:nvPr/>
        </p:nvSpPr>
        <p:spPr>
          <a:xfrm>
            <a:off x="5249202"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Solution</a:t>
            </a:r>
            <a:endParaRPr lang="en-US" sz="1330" dirty="0"/>
          </a:p>
        </p:txBody>
      </p:sp>
      <p:sp>
        <p:nvSpPr>
          <p:cNvPr id="6" name="text-12-4"/>
          <p:cNvSpPr txBox="1"/>
          <p:nvPr/>
        </p:nvSpPr>
        <p:spPr>
          <a:xfrm>
            <a:off x="7450480" y="584185"/>
            <a:ext cx="1744090" cy="239771"/>
          </a:xfrm>
          <a:prstGeom prst="rect">
            <a:avLst/>
          </a:prstGeom>
          <a:noFill/>
          <a:ln/>
        </p:spPr>
        <p:txBody>
          <a:bodyPr wrap="square" lIns="0" tIns="0" rIns="0" bIns="0" rtlCol="0" anchor="t"/>
          <a:lstStyle/>
          <a:p>
            <a:pPr algn="ctr" indent="0" marL="0">
              <a:lnSpc>
                <a:spcPts val="1600"/>
              </a:lnSpc>
              <a:buNone/>
            </a:pPr>
            <a:r>
              <a:rPr lang="en-US" sz="1330" dirty="0">
                <a:solidFill>
                  <a:srgbClr val="FFFFFF"/>
                </a:solidFill>
                <a:latin typeface="Arial" pitchFamily="34" charset="0"/>
                <a:ea typeface="Arial" pitchFamily="34" charset="-122"/>
                <a:cs typeface="Arial" pitchFamily="34" charset="-120"/>
              </a:rPr>
              <a:t>Architecture</a:t>
            </a:r>
            <a:endParaRPr lang="en-US" sz="1330" dirty="0"/>
          </a:p>
        </p:txBody>
      </p:sp>
      <p:sp>
        <p:nvSpPr>
          <p:cNvPr id="7" name="text-12-5"/>
          <p:cNvSpPr txBox="1"/>
          <p:nvPr/>
        </p:nvSpPr>
        <p:spPr>
          <a:xfrm>
            <a:off x="9651759" y="584185"/>
            <a:ext cx="1744090" cy="239771"/>
          </a:xfrm>
          <a:prstGeom prst="rect">
            <a:avLst/>
          </a:prstGeom>
          <a:noFill/>
          <a:ln/>
        </p:spPr>
        <p:txBody>
          <a:bodyPr wrap="square" lIns="0" tIns="0" rIns="0" bIns="0" rtlCol="0" anchor="t"/>
          <a:lstStyle/>
          <a:p>
            <a:pPr algn="ctr" indent="0" marL="0">
              <a:lnSpc>
                <a:spcPts val="1600"/>
              </a:lnSpc>
              <a:buNone/>
            </a:pPr>
            <a:r>
              <a:rPr lang="en-US" sz="1330" b="1" dirty="0">
                <a:solidFill>
                  <a:srgbClr val="FFFFFF"/>
                </a:solidFill>
                <a:latin typeface="Arial" pitchFamily="34" charset="0"/>
                <a:ea typeface="Arial" pitchFamily="34" charset="-122"/>
                <a:cs typeface="Arial" pitchFamily="34" charset="-120"/>
              </a:rPr>
              <a:t>Impact</a:t>
            </a:r>
            <a:endParaRPr lang="en-US" sz="1330" dirty="0"/>
          </a:p>
        </p:txBody>
      </p:sp>
      <p:sp>
        <p:nvSpPr>
          <p:cNvPr id="8" name="text-12-6"/>
          <p:cNvSpPr txBox="1"/>
          <p:nvPr/>
        </p:nvSpPr>
        <p:spPr>
          <a:xfrm>
            <a:off x="4080831" y="4711582"/>
            <a:ext cx="3118830" cy="239771"/>
          </a:xfrm>
          <a:prstGeom prst="rect">
            <a:avLst/>
          </a:prstGeom>
          <a:noFill/>
          <a:ln/>
        </p:spPr>
        <p:txBody>
          <a:bodyPr wrap="square" lIns="0" tIns="0" rIns="0" bIns="0" rtlCol="0" anchor="t"/>
          <a:lstStyle/>
          <a:p>
            <a:pPr algn="l" indent="0" marL="0">
              <a:lnSpc>
                <a:spcPts val="1600"/>
              </a:lnSpc>
              <a:buNone/>
            </a:pPr>
            <a:r>
              <a:rPr lang="en-US" sz="1330" dirty="0">
                <a:solidFill>
                  <a:srgbClr val="FFFFFF"/>
                </a:solidFill>
                <a:latin typeface="Arial" pitchFamily="34" charset="0"/>
                <a:ea typeface="Arial" pitchFamily="34" charset="-122"/>
                <a:cs typeface="Arial" pitchFamily="34" charset="-120"/>
              </a:rPr>
              <a:t>Threat Pilot · Agentic SBOM Risk Auditor</a:t>
            </a:r>
            <a:endParaRPr lang="en-US" sz="1330" dirty="0"/>
          </a:p>
        </p:txBody>
      </p:sp>
      <p:sp>
        <p:nvSpPr>
          <p:cNvPr id="9" name="text-12-7"/>
          <p:cNvSpPr txBox="1"/>
          <p:nvPr/>
        </p:nvSpPr>
        <p:spPr>
          <a:xfrm>
            <a:off x="4080831" y="4982509"/>
            <a:ext cx="2545360" cy="239771"/>
          </a:xfrm>
          <a:prstGeom prst="rect">
            <a:avLst/>
          </a:prstGeom>
          <a:noFill/>
          <a:ln/>
        </p:spPr>
        <p:txBody>
          <a:bodyPr wrap="square" lIns="0" tIns="0" rIns="0" bIns="0" rtlCol="0" anchor="t"/>
          <a:lstStyle/>
          <a:p>
            <a:pPr algn="l" indent="0" marL="0">
              <a:lnSpc>
                <a:spcPts val="1600"/>
              </a:lnSpc>
              <a:buNone/>
            </a:pPr>
            <a:r>
              <a:rPr lang="en-US" sz="1330" dirty="0">
                <a:solidFill>
                  <a:srgbClr val="FFFFFF"/>
                </a:solidFill>
                <a:latin typeface="Arial" pitchFamily="34" charset="0"/>
                <a:ea typeface="Arial" pitchFamily="34" charset="-122"/>
                <a:cs typeface="Arial" pitchFamily="34" charset="-120"/>
              </a:rPr>
              <a:t>github.com/therealvishnuvardhan</a:t>
            </a:r>
            <a:endParaRPr lang="en-US" sz="1330" dirty="0"/>
          </a:p>
        </p:txBody>
      </p:sp>
      <p:sp>
        <p:nvSpPr>
          <p:cNvPr id="10" name="text-12-8"/>
          <p:cNvSpPr txBox="1"/>
          <p:nvPr/>
        </p:nvSpPr>
        <p:spPr>
          <a:xfrm>
            <a:off x="4080831" y="5253435"/>
            <a:ext cx="3599037" cy="239771"/>
          </a:xfrm>
          <a:prstGeom prst="rect">
            <a:avLst/>
          </a:prstGeom>
          <a:noFill/>
          <a:ln/>
        </p:spPr>
        <p:txBody>
          <a:bodyPr wrap="square" lIns="0" tIns="0" rIns="0" bIns="0" rtlCol="0" anchor="t"/>
          <a:lstStyle/>
          <a:p>
            <a:pPr algn="l" indent="0" marL="0">
              <a:lnSpc>
                <a:spcPts val="1600"/>
              </a:lnSpc>
              <a:buNone/>
            </a:pPr>
            <a:r>
              <a:rPr lang="en-US" sz="1330" dirty="0">
                <a:solidFill>
                  <a:srgbClr val="FFFFFF"/>
                </a:solidFill>
                <a:latin typeface="Arial" pitchFamily="34" charset="0"/>
                <a:ea typeface="Arial" pitchFamily="34" charset="-122"/>
                <a:cs typeface="Arial" pitchFamily="34" charset="-120"/>
              </a:rPr>
              <a:t>Hackatopia 2K26 · CB-02 · Questions welcome</a:t>
            </a:r>
            <a:endParaRPr lang="en-US" sz="13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Pilot - Hackatopia 2K26 Final Presentation</dc:title>
  <dc:subject>PptxGenJS Presentation</dc:subject>
  <dc:creator>Threat Pilot team</dc:creator>
  <cp:lastModifiedBy>Threat Pilot team</cp:lastModifiedBy>
  <cp:revision>1</cp:revision>
  <dcterms:created xsi:type="dcterms:W3CDTF">2026-10-09T00:25:20Z</dcterms:created>
  <dcterms:modified xsi:type="dcterms:W3CDTF">2026-10-09T00:25:20Z</dcterms:modified>
</cp:coreProperties>
</file>